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64591" y="868680"/>
            <a:ext cx="8979410" cy="1"/>
          </a:xfrm>
          <a:prstGeom prst="line">
            <a:avLst/>
          </a:prstGeom>
          <a:ln w="5080">
            <a:solidFill>
              <a:srgbClr val="0077A8">
                <a:alpha val="2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64591" y="1737360"/>
            <a:ext cx="8979410" cy="1"/>
          </a:xfrm>
          <a:prstGeom prst="line">
            <a:avLst/>
          </a:prstGeom>
          <a:ln w="5080">
            <a:solidFill>
              <a:srgbClr val="0077A8">
                <a:alpha val="2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164591" y="2606039"/>
            <a:ext cx="8979410" cy="1"/>
          </a:xfrm>
          <a:prstGeom prst="line">
            <a:avLst/>
          </a:prstGeom>
          <a:ln w="5080">
            <a:solidFill>
              <a:srgbClr val="0077A8">
                <a:alpha val="2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164591" y="3474720"/>
            <a:ext cx="8979410" cy="1"/>
          </a:xfrm>
          <a:prstGeom prst="line">
            <a:avLst/>
          </a:prstGeom>
          <a:ln w="5080">
            <a:solidFill>
              <a:srgbClr val="0077A8">
                <a:alpha val="2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164591" y="4343400"/>
            <a:ext cx="8979410" cy="0"/>
          </a:xfrm>
          <a:prstGeom prst="line">
            <a:avLst/>
          </a:prstGeom>
          <a:ln w="5080">
            <a:solidFill>
              <a:srgbClr val="0077A8">
                <a:alpha val="2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457200" y="659353"/>
            <a:ext cx="8229600" cy="64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FFFFFF"/>
                </a:solidFill>
              </a:defRPr>
            </a:lvl1pPr>
          </a:lstStyle>
          <a:p>
            <a:pPr/>
            <a:r>
              <a:t>LLM Workstream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457200" y="1612989"/>
            <a:ext cx="822960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000">
                <a:solidFill>
                  <a:srgbClr val="00B4D8"/>
                </a:solidFill>
              </a:defRPr>
            </a:lvl1pPr>
          </a:lstStyle>
          <a:p>
            <a:pPr/>
            <a:r>
              <a:t>Enterprise AI · Intelligent Automation at Scale</a:t>
            </a:r>
          </a:p>
        </p:txBody>
      </p:sp>
      <p:sp>
        <p:nvSpPr>
          <p:cNvPr id="28" name="Shape 8"/>
          <p:cNvSpPr/>
          <p:nvPr/>
        </p:nvSpPr>
        <p:spPr>
          <a:xfrm>
            <a:off x="457200" y="2103120"/>
            <a:ext cx="4572000" cy="4572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457199" y="2394642"/>
            <a:ext cx="84124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BD5E1"/>
                </a:solidFill>
              </a:defRPr>
            </a:lvl1pPr>
          </a:lstStyle>
          <a:p>
            <a:pPr/>
            <a:r>
              <a:t>How and when do LLMs create enterprise value?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457199" y="2833554"/>
            <a:ext cx="84124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BD5E1"/>
                </a:solidFill>
              </a:defRPr>
            </a:lvl1pPr>
          </a:lstStyle>
          <a:p>
            <a:pPr/>
            <a:r>
              <a:t>Fine-tuning vs Prompting vs Custom LM — the decision framework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457199" y="3272466"/>
            <a:ext cx="84124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BD5E1"/>
                </a:solidFill>
              </a:defRPr>
            </a:lvl1pPr>
          </a:lstStyle>
          <a:p>
            <a:pPr/>
            <a:r>
              <a:t>Applications: Text-to-Code · Text-to-Config · Spec-to-Code · OSL-to-Config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457199" y="3711378"/>
            <a:ext cx="84124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BD5E1"/>
                </a:solidFill>
              </a:defRPr>
            </a:lvl1pPr>
          </a:lstStyle>
          <a:p>
            <a:pPr/>
            <a:r>
              <a:t>Design pillars: Reproducibility · Generalizability · Cost Optimality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457200" y="4750352"/>
            <a:ext cx="8229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Exec Offsite  ·  30-Min Deep Dive  ·  LLM Workstream Team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"/>
          <p:cNvSpPr txBox="1"/>
          <p:nvPr/>
        </p:nvSpPr>
        <p:spPr>
          <a:xfrm>
            <a:off x="365759" y="182215"/>
            <a:ext cx="841248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Why LLMs in the Enterprise?</a:t>
            </a:r>
          </a:p>
        </p:txBody>
      </p:sp>
      <p:sp>
        <p:nvSpPr>
          <p:cNvPr id="37" name="Shape 2"/>
          <p:cNvSpPr/>
          <p:nvPr/>
        </p:nvSpPr>
        <p:spPr>
          <a:xfrm>
            <a:off x="228600" y="749807"/>
            <a:ext cx="2834640" cy="18745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Shape 3"/>
          <p:cNvSpPr/>
          <p:nvPr/>
        </p:nvSpPr>
        <p:spPr>
          <a:xfrm>
            <a:off x="228600" y="749808"/>
            <a:ext cx="2834640" cy="54865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4"/>
          <p:cNvSpPr txBox="1"/>
          <p:nvPr/>
        </p:nvSpPr>
        <p:spPr>
          <a:xfrm>
            <a:off x="365760" y="961135"/>
            <a:ext cx="257860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📄  Knowledge is Locked in Documents</a:t>
            </a:r>
          </a:p>
        </p:txBody>
      </p:sp>
      <p:sp>
        <p:nvSpPr>
          <p:cNvPr id="40" name="Text 5"/>
          <p:cNvSpPr txBox="1"/>
          <p:nvPr/>
        </p:nvSpPr>
        <p:spPr>
          <a:xfrm>
            <a:off x="365760" y="1631486"/>
            <a:ext cx="2578608" cy="632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Business rules, specs, and configurations live in Word files, PDFs, and wikis. Translating them into code or system configs is slow, error-prone, and requires scarce expert engineers.</a:t>
            </a:r>
          </a:p>
        </p:txBody>
      </p:sp>
      <p:sp>
        <p:nvSpPr>
          <p:cNvPr id="41" name="Shape 6"/>
          <p:cNvSpPr/>
          <p:nvPr/>
        </p:nvSpPr>
        <p:spPr>
          <a:xfrm>
            <a:off x="3200400" y="749807"/>
            <a:ext cx="2834640" cy="18745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7"/>
          <p:cNvSpPr/>
          <p:nvPr/>
        </p:nvSpPr>
        <p:spPr>
          <a:xfrm>
            <a:off x="3200400" y="749808"/>
            <a:ext cx="2834640" cy="54865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8"/>
          <p:cNvSpPr txBox="1"/>
          <p:nvPr/>
        </p:nvSpPr>
        <p:spPr>
          <a:xfrm>
            <a:off x="3337559" y="961135"/>
            <a:ext cx="257860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🔁  Repetitive, Pattern-Heavy Work</a:t>
            </a:r>
          </a:p>
        </p:txBody>
      </p:sp>
      <p:sp>
        <p:nvSpPr>
          <p:cNvPr id="44" name="Text 9"/>
          <p:cNvSpPr txBox="1"/>
          <p:nvPr/>
        </p:nvSpPr>
        <p:spPr>
          <a:xfrm>
            <a:off x="3337559" y="1631486"/>
            <a:ext cx="2578609" cy="632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Large portions of enterprise code and config follow rigid patterns. A human re-applies the same template logic hundreds of times across attributes, rules, and parameters.</a:t>
            </a:r>
          </a:p>
        </p:txBody>
      </p:sp>
      <p:sp>
        <p:nvSpPr>
          <p:cNvPr id="45" name="Shape 10"/>
          <p:cNvSpPr/>
          <p:nvPr/>
        </p:nvSpPr>
        <p:spPr>
          <a:xfrm>
            <a:off x="6172200" y="749807"/>
            <a:ext cx="2834640" cy="18745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" name="Shape 11"/>
          <p:cNvSpPr/>
          <p:nvPr/>
        </p:nvSpPr>
        <p:spPr>
          <a:xfrm>
            <a:off x="6172200" y="749808"/>
            <a:ext cx="2834640" cy="54865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2"/>
          <p:cNvSpPr txBox="1"/>
          <p:nvPr/>
        </p:nvSpPr>
        <p:spPr>
          <a:xfrm>
            <a:off x="6309359" y="961135"/>
            <a:ext cx="257860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⏱️  Speed &amp; Cost Bottleneck</a:t>
            </a:r>
          </a:p>
        </p:txBody>
      </p:sp>
      <p:sp>
        <p:nvSpPr>
          <p:cNvPr id="48" name="Text 13"/>
          <p:cNvSpPr txBox="1"/>
          <p:nvPr/>
        </p:nvSpPr>
        <p:spPr>
          <a:xfrm>
            <a:off x="6309359" y="1631486"/>
            <a:ext cx="2578609" cy="632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Manual translation is the bottleneck. A spec document that takes weeks to implement manually could be generated in minutes with the right LLM approach — at a fraction of the cost.</a:t>
            </a:r>
          </a:p>
        </p:txBody>
      </p:sp>
      <p:sp>
        <p:nvSpPr>
          <p:cNvPr id="49" name="Text 14"/>
          <p:cNvSpPr txBox="1"/>
          <p:nvPr/>
        </p:nvSpPr>
        <p:spPr>
          <a:xfrm>
            <a:off x="2286000" y="2842698"/>
            <a:ext cx="5029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077A8"/>
                </a:solidFill>
              </a:defRPr>
            </a:lvl1pPr>
          </a:lstStyle>
          <a:p>
            <a:pPr/>
            <a:r>
              <a:t>↓  LLMs offer a fundamentally different approach</a:t>
            </a:r>
          </a:p>
        </p:txBody>
      </p:sp>
      <p:sp>
        <p:nvSpPr>
          <p:cNvPr id="50" name="Shape 15"/>
          <p:cNvSpPr/>
          <p:nvPr/>
        </p:nvSpPr>
        <p:spPr>
          <a:xfrm>
            <a:off x="228600" y="3218688"/>
            <a:ext cx="2834640" cy="1719073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" name="Shape 16"/>
          <p:cNvSpPr/>
          <p:nvPr/>
        </p:nvSpPr>
        <p:spPr>
          <a:xfrm>
            <a:off x="228600" y="3218688"/>
            <a:ext cx="2834640" cy="54865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7"/>
          <p:cNvSpPr txBox="1"/>
          <p:nvPr/>
        </p:nvSpPr>
        <p:spPr>
          <a:xfrm>
            <a:off x="365760" y="3413069"/>
            <a:ext cx="2578608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0B4D8"/>
                </a:solidFill>
              </a:defRPr>
            </a:lvl1pPr>
          </a:lstStyle>
          <a:p>
            <a:pPr/>
            <a:r>
              <a:t>✓  Understand &amp; Extract</a:t>
            </a:r>
          </a:p>
        </p:txBody>
      </p:sp>
      <p:sp>
        <p:nvSpPr>
          <p:cNvPr id="53" name="Text 18"/>
          <p:cNvSpPr txBox="1"/>
          <p:nvPr/>
        </p:nvSpPr>
        <p:spPr>
          <a:xfrm>
            <a:off x="365760" y="4064044"/>
            <a:ext cx="2578608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Parse and reason over dense specification documents, extracting structured business logic that maps to downstream code or config.</a:t>
            </a:r>
          </a:p>
        </p:txBody>
      </p:sp>
      <p:sp>
        <p:nvSpPr>
          <p:cNvPr id="54" name="Shape 19"/>
          <p:cNvSpPr/>
          <p:nvPr/>
        </p:nvSpPr>
        <p:spPr>
          <a:xfrm>
            <a:off x="3200400" y="3218688"/>
            <a:ext cx="2834640" cy="1719073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20"/>
          <p:cNvSpPr/>
          <p:nvPr/>
        </p:nvSpPr>
        <p:spPr>
          <a:xfrm>
            <a:off x="3200400" y="3218688"/>
            <a:ext cx="2834640" cy="54865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21"/>
          <p:cNvSpPr txBox="1"/>
          <p:nvPr/>
        </p:nvSpPr>
        <p:spPr>
          <a:xfrm>
            <a:off x="3337559" y="3413069"/>
            <a:ext cx="257860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2C55E"/>
                </a:solidFill>
              </a:defRPr>
            </a:lvl1pPr>
          </a:lstStyle>
          <a:p>
            <a:pPr/>
            <a:r>
              <a:t>✓  Generate at Scale</a:t>
            </a:r>
          </a:p>
        </p:txBody>
      </p:sp>
      <p:sp>
        <p:nvSpPr>
          <p:cNvPr id="57" name="Text 22"/>
          <p:cNvSpPr txBox="1"/>
          <p:nvPr/>
        </p:nvSpPr>
        <p:spPr>
          <a:xfrm>
            <a:off x="3337559" y="4064044"/>
            <a:ext cx="2578609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Produce thousands of lines of structured output — code, config, mappings — from a specification, with consistent patterns and conventions applied.</a:t>
            </a:r>
          </a:p>
        </p:txBody>
      </p:sp>
      <p:sp>
        <p:nvSpPr>
          <p:cNvPr id="58" name="Shape 23"/>
          <p:cNvSpPr/>
          <p:nvPr/>
        </p:nvSpPr>
        <p:spPr>
          <a:xfrm>
            <a:off x="6172200" y="3218688"/>
            <a:ext cx="2834640" cy="1719073"/>
          </a:xfrm>
          <a:prstGeom prst="rect">
            <a:avLst/>
          </a:prstGeom>
          <a:solidFill>
            <a:srgbClr val="0D1B2A"/>
          </a:solidFill>
          <a:ln w="19050">
            <a:solidFill>
              <a:srgbClr val="A855F7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" name="Shape 24"/>
          <p:cNvSpPr/>
          <p:nvPr/>
        </p:nvSpPr>
        <p:spPr>
          <a:xfrm>
            <a:off x="6172200" y="3218688"/>
            <a:ext cx="2834640" cy="54865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25"/>
          <p:cNvSpPr txBox="1"/>
          <p:nvPr/>
        </p:nvSpPr>
        <p:spPr>
          <a:xfrm>
            <a:off x="6309359" y="3413069"/>
            <a:ext cx="257860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855F7"/>
                </a:solidFill>
              </a:defRPr>
            </a:lvl1pPr>
          </a:lstStyle>
          <a:p>
            <a:pPr/>
            <a:r>
              <a:t>✓  Adapt to Domain</a:t>
            </a:r>
          </a:p>
        </p:txBody>
      </p:sp>
      <p:sp>
        <p:nvSpPr>
          <p:cNvPr id="61" name="Text 26"/>
          <p:cNvSpPr txBox="1"/>
          <p:nvPr/>
        </p:nvSpPr>
        <p:spPr>
          <a:xfrm>
            <a:off x="6309359" y="4064044"/>
            <a:ext cx="2578609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Fine-tune on proprietary examples to internalize your organization's specific naming conventions, formats, and architectural patterns.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"/>
          <p:cNvSpPr txBox="1"/>
          <p:nvPr/>
        </p:nvSpPr>
        <p:spPr>
          <a:xfrm>
            <a:off x="365759" y="182215"/>
            <a:ext cx="841248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D1B2A"/>
                </a:solidFill>
              </a:defRPr>
            </a:lvl1pPr>
          </a:lstStyle>
          <a:p>
            <a:pPr/>
            <a:r>
              <a:t>Three Approaches — When to Use What</a:t>
            </a:r>
          </a:p>
        </p:txBody>
      </p:sp>
      <p:sp>
        <p:nvSpPr>
          <p:cNvPr id="65" name="Shape 2"/>
          <p:cNvSpPr/>
          <p:nvPr/>
        </p:nvSpPr>
        <p:spPr>
          <a:xfrm>
            <a:off x="201168" y="749808"/>
            <a:ext cx="2834640" cy="4069080"/>
          </a:xfrm>
          <a:prstGeom prst="rect">
            <a:avLst/>
          </a:prstGeom>
          <a:solidFill>
            <a:srgbClr val="162232"/>
          </a:solidFill>
          <a:ln w="25400">
            <a:solidFill>
              <a:srgbClr val="00B4D8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3"/>
          <p:cNvSpPr/>
          <p:nvPr/>
        </p:nvSpPr>
        <p:spPr>
          <a:xfrm>
            <a:off x="201168" y="749808"/>
            <a:ext cx="2834640" cy="73153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4"/>
          <p:cNvSpPr txBox="1"/>
          <p:nvPr/>
        </p:nvSpPr>
        <p:spPr>
          <a:xfrm>
            <a:off x="310895" y="968179"/>
            <a:ext cx="263347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0B4D8"/>
                </a:solidFill>
              </a:defRPr>
            </a:lvl1pPr>
          </a:lstStyle>
          <a:p>
            <a:pPr/>
            <a:r>
              <a:t>Prompt Engineering</a:t>
            </a:r>
          </a:p>
        </p:txBody>
      </p:sp>
      <p:sp>
        <p:nvSpPr>
          <p:cNvPr id="68" name="Text 5"/>
          <p:cNvSpPr txBox="1"/>
          <p:nvPr/>
        </p:nvSpPr>
        <p:spPr>
          <a:xfrm>
            <a:off x="310895" y="1275632"/>
            <a:ext cx="263347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CBD5E1"/>
                </a:solidFill>
              </a:defRPr>
            </a:lvl1pPr>
          </a:lstStyle>
          <a:p>
            <a:pPr/>
            <a:r>
              <a:t>Zero/Few-Shot</a:t>
            </a:r>
          </a:p>
        </p:txBody>
      </p:sp>
      <p:sp>
        <p:nvSpPr>
          <p:cNvPr id="69" name="Shape 6"/>
          <p:cNvSpPr/>
          <p:nvPr/>
        </p:nvSpPr>
        <p:spPr>
          <a:xfrm>
            <a:off x="310895" y="1536191"/>
            <a:ext cx="2633474" cy="27433"/>
          </a:xfrm>
          <a:prstGeom prst="rect">
            <a:avLst/>
          </a:prstGeom>
          <a:solidFill>
            <a:srgbClr val="1E31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7"/>
          <p:cNvSpPr txBox="1"/>
          <p:nvPr/>
        </p:nvSpPr>
        <p:spPr>
          <a:xfrm>
            <a:off x="310895" y="1677968"/>
            <a:ext cx="263347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0B4D8"/>
                </a:solidFill>
              </a:defRPr>
            </a:lvl1pPr>
          </a:lstStyle>
          <a:p>
            <a:pPr/>
            <a:r>
              <a:t>✔  Best when...</a:t>
            </a:r>
          </a:p>
        </p:txBody>
      </p:sp>
      <p:sp>
        <p:nvSpPr>
          <p:cNvPr id="71" name="Text 8"/>
          <p:cNvSpPr txBox="1"/>
          <p:nvPr/>
        </p:nvSpPr>
        <p:spPr>
          <a:xfrm>
            <a:off x="384047" y="2002580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Task is well-defined &amp; general</a:t>
            </a:r>
          </a:p>
        </p:txBody>
      </p:sp>
      <p:sp>
        <p:nvSpPr>
          <p:cNvPr id="72" name="Text 9"/>
          <p:cNvSpPr txBox="1"/>
          <p:nvPr/>
        </p:nvSpPr>
        <p:spPr>
          <a:xfrm>
            <a:off x="384047" y="2331764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No labelled examples exist</a:t>
            </a:r>
          </a:p>
        </p:txBody>
      </p:sp>
      <p:sp>
        <p:nvSpPr>
          <p:cNvPr id="73" name="Text 10"/>
          <p:cNvSpPr txBox="1"/>
          <p:nvPr/>
        </p:nvSpPr>
        <p:spPr>
          <a:xfrm>
            <a:off x="384047" y="2660948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Rapid prototyping needed</a:t>
            </a:r>
          </a:p>
        </p:txBody>
      </p:sp>
      <p:sp>
        <p:nvSpPr>
          <p:cNvPr id="74" name="Text 11"/>
          <p:cNvSpPr txBox="1"/>
          <p:nvPr/>
        </p:nvSpPr>
        <p:spPr>
          <a:xfrm>
            <a:off x="384047" y="2990132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Task changes frequently</a:t>
            </a:r>
          </a:p>
        </p:txBody>
      </p:sp>
      <p:sp>
        <p:nvSpPr>
          <p:cNvPr id="75" name="Shape 12"/>
          <p:cNvSpPr/>
          <p:nvPr/>
        </p:nvSpPr>
        <p:spPr>
          <a:xfrm>
            <a:off x="310895" y="3273552"/>
            <a:ext cx="2633474" cy="27433"/>
          </a:xfrm>
          <a:prstGeom prst="rect">
            <a:avLst/>
          </a:prstGeom>
          <a:solidFill>
            <a:srgbClr val="1E31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3"/>
          <p:cNvSpPr txBox="1"/>
          <p:nvPr/>
        </p:nvSpPr>
        <p:spPr>
          <a:xfrm>
            <a:off x="310895" y="3412108"/>
            <a:ext cx="2633474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⚠  Tradeoffs</a:t>
            </a:r>
          </a:p>
        </p:txBody>
      </p:sp>
      <p:sp>
        <p:nvSpPr>
          <p:cNvPr id="77" name="Text 14"/>
          <p:cNvSpPr txBox="1"/>
          <p:nvPr/>
        </p:nvSpPr>
        <p:spPr>
          <a:xfrm>
            <a:off x="384047" y="3731259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Output format can vary across runs</a:t>
            </a:r>
          </a:p>
        </p:txBody>
      </p:sp>
      <p:sp>
        <p:nvSpPr>
          <p:cNvPr id="78" name="Text 15"/>
          <p:cNvSpPr txBox="1"/>
          <p:nvPr/>
        </p:nvSpPr>
        <p:spPr>
          <a:xfrm>
            <a:off x="384047" y="4033011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Conventions must be re-specified each call</a:t>
            </a:r>
          </a:p>
        </p:txBody>
      </p:sp>
      <p:sp>
        <p:nvSpPr>
          <p:cNvPr id="79" name="Text 16"/>
          <p:cNvSpPr txBox="1"/>
          <p:nvPr/>
        </p:nvSpPr>
        <p:spPr>
          <a:xfrm>
            <a:off x="384047" y="4334763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Expensive at scale (frontier API)</a:t>
            </a:r>
          </a:p>
        </p:txBody>
      </p:sp>
      <p:sp>
        <p:nvSpPr>
          <p:cNvPr id="80" name="Text 17"/>
          <p:cNvSpPr txBox="1"/>
          <p:nvPr/>
        </p:nvSpPr>
        <p:spPr>
          <a:xfrm>
            <a:off x="384047" y="4636515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Hallucinations on domain-specific logic</a:t>
            </a:r>
          </a:p>
        </p:txBody>
      </p:sp>
      <p:sp>
        <p:nvSpPr>
          <p:cNvPr id="81" name="Shape 18"/>
          <p:cNvSpPr/>
          <p:nvPr/>
        </p:nvSpPr>
        <p:spPr>
          <a:xfrm>
            <a:off x="3172967" y="749808"/>
            <a:ext cx="2834641" cy="4069080"/>
          </a:xfrm>
          <a:prstGeom prst="rect">
            <a:avLst/>
          </a:prstGeom>
          <a:solidFill>
            <a:srgbClr val="162232"/>
          </a:solidFill>
          <a:ln w="25400">
            <a:solidFill>
              <a:srgbClr val="F59E0B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" name="Shape 19"/>
          <p:cNvSpPr/>
          <p:nvPr/>
        </p:nvSpPr>
        <p:spPr>
          <a:xfrm>
            <a:off x="3172967" y="749808"/>
            <a:ext cx="2834641" cy="73153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20"/>
          <p:cNvSpPr txBox="1"/>
          <p:nvPr/>
        </p:nvSpPr>
        <p:spPr>
          <a:xfrm>
            <a:off x="3282696" y="968179"/>
            <a:ext cx="263347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59E0B"/>
                </a:solidFill>
              </a:defRPr>
            </a:lvl1pPr>
          </a:lstStyle>
          <a:p>
            <a:pPr/>
            <a:r>
              <a:t>Fine-Tuning</a:t>
            </a:r>
          </a:p>
        </p:txBody>
      </p:sp>
      <p:sp>
        <p:nvSpPr>
          <p:cNvPr id="84" name="Text 21"/>
          <p:cNvSpPr txBox="1"/>
          <p:nvPr/>
        </p:nvSpPr>
        <p:spPr>
          <a:xfrm>
            <a:off x="3282696" y="1275632"/>
            <a:ext cx="26334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CBD5E1"/>
                </a:solidFill>
              </a:defRPr>
            </a:lvl1pPr>
          </a:lstStyle>
          <a:p>
            <a:pPr/>
            <a:r>
              <a:t>SFT / QLoRA</a:t>
            </a:r>
          </a:p>
        </p:txBody>
      </p:sp>
      <p:sp>
        <p:nvSpPr>
          <p:cNvPr id="85" name="Shape 22"/>
          <p:cNvSpPr/>
          <p:nvPr/>
        </p:nvSpPr>
        <p:spPr>
          <a:xfrm>
            <a:off x="3282696" y="1536191"/>
            <a:ext cx="2633473" cy="27433"/>
          </a:xfrm>
          <a:prstGeom prst="rect">
            <a:avLst/>
          </a:prstGeom>
          <a:solidFill>
            <a:srgbClr val="1E31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23"/>
          <p:cNvSpPr txBox="1"/>
          <p:nvPr/>
        </p:nvSpPr>
        <p:spPr>
          <a:xfrm>
            <a:off x="3282696" y="1677968"/>
            <a:ext cx="26334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✔  Best when...</a:t>
            </a:r>
          </a:p>
        </p:txBody>
      </p:sp>
      <p:sp>
        <p:nvSpPr>
          <p:cNvPr id="87" name="Text 24"/>
          <p:cNvSpPr txBox="1"/>
          <p:nvPr/>
        </p:nvSpPr>
        <p:spPr>
          <a:xfrm>
            <a:off x="3355847" y="2002580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Consistent output format is critical</a:t>
            </a:r>
          </a:p>
        </p:txBody>
      </p:sp>
      <p:sp>
        <p:nvSpPr>
          <p:cNvPr id="88" name="Text 25"/>
          <p:cNvSpPr txBox="1"/>
          <p:nvPr/>
        </p:nvSpPr>
        <p:spPr>
          <a:xfrm>
            <a:off x="3355847" y="2331764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Domain has proprietary conventions</a:t>
            </a:r>
          </a:p>
        </p:txBody>
      </p:sp>
      <p:sp>
        <p:nvSpPr>
          <p:cNvPr id="89" name="Text 26"/>
          <p:cNvSpPr txBox="1"/>
          <p:nvPr/>
        </p:nvSpPr>
        <p:spPr>
          <a:xfrm>
            <a:off x="3355847" y="2660948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Same pattern across 100s of examples</a:t>
            </a:r>
          </a:p>
        </p:txBody>
      </p:sp>
      <p:sp>
        <p:nvSpPr>
          <p:cNvPr id="90" name="Text 27"/>
          <p:cNvSpPr txBox="1"/>
          <p:nvPr/>
        </p:nvSpPr>
        <p:spPr>
          <a:xfrm>
            <a:off x="3355847" y="2990132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Cost optimality at inference scale</a:t>
            </a:r>
          </a:p>
        </p:txBody>
      </p:sp>
      <p:sp>
        <p:nvSpPr>
          <p:cNvPr id="91" name="Shape 28"/>
          <p:cNvSpPr/>
          <p:nvPr/>
        </p:nvSpPr>
        <p:spPr>
          <a:xfrm>
            <a:off x="3282696" y="3273552"/>
            <a:ext cx="2633473" cy="27433"/>
          </a:xfrm>
          <a:prstGeom prst="rect">
            <a:avLst/>
          </a:prstGeom>
          <a:solidFill>
            <a:srgbClr val="1E31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29"/>
          <p:cNvSpPr txBox="1"/>
          <p:nvPr/>
        </p:nvSpPr>
        <p:spPr>
          <a:xfrm>
            <a:off x="3282696" y="3412108"/>
            <a:ext cx="2633473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⚠  Tradeoffs</a:t>
            </a:r>
          </a:p>
        </p:txBody>
      </p:sp>
      <p:sp>
        <p:nvSpPr>
          <p:cNvPr id="93" name="Text 30"/>
          <p:cNvSpPr txBox="1"/>
          <p:nvPr/>
        </p:nvSpPr>
        <p:spPr>
          <a:xfrm>
            <a:off x="3355847" y="3731259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Requires curated training examples</a:t>
            </a:r>
          </a:p>
        </p:txBody>
      </p:sp>
      <p:sp>
        <p:nvSpPr>
          <p:cNvPr id="94" name="Text 31"/>
          <p:cNvSpPr txBox="1"/>
          <p:nvPr/>
        </p:nvSpPr>
        <p:spPr>
          <a:xfrm>
            <a:off x="3355847" y="4033011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Memorizes — doesn't generalize freely</a:t>
            </a:r>
          </a:p>
        </p:txBody>
      </p:sp>
      <p:sp>
        <p:nvSpPr>
          <p:cNvPr id="95" name="Text 32"/>
          <p:cNvSpPr txBox="1"/>
          <p:nvPr/>
        </p:nvSpPr>
        <p:spPr>
          <a:xfrm>
            <a:off x="3355847" y="4334763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Novel inputs can break patterns</a:t>
            </a:r>
          </a:p>
        </p:txBody>
      </p:sp>
      <p:sp>
        <p:nvSpPr>
          <p:cNvPr id="96" name="Text 33"/>
          <p:cNvSpPr txBox="1"/>
          <p:nvPr/>
        </p:nvSpPr>
        <p:spPr>
          <a:xfrm>
            <a:off x="3355847" y="4636515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Training infra investment needed</a:t>
            </a:r>
          </a:p>
        </p:txBody>
      </p:sp>
      <p:sp>
        <p:nvSpPr>
          <p:cNvPr id="97" name="Shape 34"/>
          <p:cNvSpPr/>
          <p:nvPr/>
        </p:nvSpPr>
        <p:spPr>
          <a:xfrm>
            <a:off x="6144767" y="749808"/>
            <a:ext cx="2834641" cy="4069080"/>
          </a:xfrm>
          <a:prstGeom prst="rect">
            <a:avLst/>
          </a:prstGeom>
          <a:solidFill>
            <a:srgbClr val="162232"/>
          </a:solidFill>
          <a:ln w="25400">
            <a:solidFill>
              <a:srgbClr val="A855F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Shape 35"/>
          <p:cNvSpPr/>
          <p:nvPr/>
        </p:nvSpPr>
        <p:spPr>
          <a:xfrm>
            <a:off x="6144767" y="749808"/>
            <a:ext cx="2834641" cy="73153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36"/>
          <p:cNvSpPr txBox="1"/>
          <p:nvPr/>
        </p:nvSpPr>
        <p:spPr>
          <a:xfrm>
            <a:off x="6254496" y="968179"/>
            <a:ext cx="263347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A855F7"/>
                </a:solidFill>
              </a:defRPr>
            </a:lvl1pPr>
          </a:lstStyle>
          <a:p>
            <a:pPr/>
            <a:r>
              <a:t>Custom LM / Pretraining</a:t>
            </a:r>
          </a:p>
        </p:txBody>
      </p:sp>
      <p:sp>
        <p:nvSpPr>
          <p:cNvPr id="100" name="Text 37"/>
          <p:cNvSpPr txBox="1"/>
          <p:nvPr/>
        </p:nvSpPr>
        <p:spPr>
          <a:xfrm>
            <a:off x="6254496" y="1275632"/>
            <a:ext cx="26334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CBD5E1"/>
                </a:solidFill>
              </a:defRPr>
            </a:lvl1pPr>
          </a:lstStyle>
          <a:p>
            <a:pPr/>
            <a:r>
              <a:t>Train from Scratch</a:t>
            </a:r>
          </a:p>
        </p:txBody>
      </p:sp>
      <p:sp>
        <p:nvSpPr>
          <p:cNvPr id="101" name="Shape 38"/>
          <p:cNvSpPr/>
          <p:nvPr/>
        </p:nvSpPr>
        <p:spPr>
          <a:xfrm>
            <a:off x="6254496" y="1536191"/>
            <a:ext cx="2633473" cy="27433"/>
          </a:xfrm>
          <a:prstGeom prst="rect">
            <a:avLst/>
          </a:prstGeom>
          <a:solidFill>
            <a:srgbClr val="1E31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39"/>
          <p:cNvSpPr txBox="1"/>
          <p:nvPr/>
        </p:nvSpPr>
        <p:spPr>
          <a:xfrm>
            <a:off x="6254496" y="1677968"/>
            <a:ext cx="26334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A855F7"/>
                </a:solidFill>
              </a:defRPr>
            </a:lvl1pPr>
          </a:lstStyle>
          <a:p>
            <a:pPr/>
            <a:r>
              <a:t>✔  Best when...</a:t>
            </a:r>
          </a:p>
        </p:txBody>
      </p:sp>
      <p:sp>
        <p:nvSpPr>
          <p:cNvPr id="103" name="Text 40"/>
          <p:cNvSpPr txBox="1"/>
          <p:nvPr/>
        </p:nvSpPr>
        <p:spPr>
          <a:xfrm>
            <a:off x="6327647" y="2002580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Entirely new domain/language</a:t>
            </a:r>
          </a:p>
        </p:txBody>
      </p:sp>
      <p:sp>
        <p:nvSpPr>
          <p:cNvPr id="104" name="Text 41"/>
          <p:cNvSpPr txBox="1"/>
          <p:nvPr/>
        </p:nvSpPr>
        <p:spPr>
          <a:xfrm>
            <a:off x="6327647" y="2331764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Billions of domain tokens available</a:t>
            </a:r>
          </a:p>
        </p:txBody>
      </p:sp>
      <p:sp>
        <p:nvSpPr>
          <p:cNvPr id="105" name="Text 42"/>
          <p:cNvSpPr txBox="1"/>
          <p:nvPr/>
        </p:nvSpPr>
        <p:spPr>
          <a:xfrm>
            <a:off x="6327647" y="2660948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Need full architecture control</a:t>
            </a:r>
          </a:p>
        </p:txBody>
      </p:sp>
      <p:sp>
        <p:nvSpPr>
          <p:cNvPr id="106" name="Text 43"/>
          <p:cNvSpPr txBox="1"/>
          <p:nvPr/>
        </p:nvSpPr>
        <p:spPr>
          <a:xfrm>
            <a:off x="6327647" y="2990132"/>
            <a:ext cx="2514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Long-term strategic investment</a:t>
            </a:r>
          </a:p>
        </p:txBody>
      </p:sp>
      <p:sp>
        <p:nvSpPr>
          <p:cNvPr id="107" name="Shape 44"/>
          <p:cNvSpPr/>
          <p:nvPr/>
        </p:nvSpPr>
        <p:spPr>
          <a:xfrm>
            <a:off x="6254496" y="3273552"/>
            <a:ext cx="2633473" cy="27433"/>
          </a:xfrm>
          <a:prstGeom prst="rect">
            <a:avLst/>
          </a:prstGeom>
          <a:solidFill>
            <a:srgbClr val="1E31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45"/>
          <p:cNvSpPr txBox="1"/>
          <p:nvPr/>
        </p:nvSpPr>
        <p:spPr>
          <a:xfrm>
            <a:off x="6254496" y="3412108"/>
            <a:ext cx="2633473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⚠  Tradeoffs</a:t>
            </a:r>
          </a:p>
        </p:txBody>
      </p:sp>
      <p:sp>
        <p:nvSpPr>
          <p:cNvPr id="109" name="Text 46"/>
          <p:cNvSpPr txBox="1"/>
          <p:nvPr/>
        </p:nvSpPr>
        <p:spPr>
          <a:xfrm>
            <a:off x="6327647" y="3731259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Massive compute &amp; data requirement</a:t>
            </a:r>
          </a:p>
        </p:txBody>
      </p:sp>
      <p:sp>
        <p:nvSpPr>
          <p:cNvPr id="110" name="Text 47"/>
          <p:cNvSpPr txBox="1"/>
          <p:nvPr/>
        </p:nvSpPr>
        <p:spPr>
          <a:xfrm>
            <a:off x="6327647" y="4033011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Months-long training cycles</a:t>
            </a:r>
          </a:p>
        </p:txBody>
      </p:sp>
      <p:sp>
        <p:nvSpPr>
          <p:cNvPr id="111" name="Text 48"/>
          <p:cNvSpPr txBox="1"/>
          <p:nvPr/>
        </p:nvSpPr>
        <p:spPr>
          <a:xfrm>
            <a:off x="6327647" y="4334763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Rarely justified for most enterprises</a:t>
            </a:r>
          </a:p>
        </p:txBody>
      </p:sp>
      <p:sp>
        <p:nvSpPr>
          <p:cNvPr id="112" name="Text 49"/>
          <p:cNvSpPr txBox="1"/>
          <p:nvPr/>
        </p:nvSpPr>
        <p:spPr>
          <a:xfrm>
            <a:off x="6327647" y="4636515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Overkill for structured generation tasks</a:t>
            </a:r>
          </a:p>
        </p:txBody>
      </p:sp>
      <p:sp>
        <p:nvSpPr>
          <p:cNvPr id="113" name="Shape 50"/>
          <p:cNvSpPr/>
          <p:nvPr/>
        </p:nvSpPr>
        <p:spPr>
          <a:xfrm>
            <a:off x="201167" y="4846320"/>
            <a:ext cx="8741666" cy="228601"/>
          </a:xfrm>
          <a:prstGeom prst="rect">
            <a:avLst/>
          </a:prstGeom>
          <a:solidFill>
            <a:srgbClr val="00B4D8">
              <a:alpha val="15000"/>
            </a:srgbClr>
          </a:solidFill>
          <a:ln w="1016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51"/>
          <p:cNvSpPr txBox="1"/>
          <p:nvPr/>
        </p:nvSpPr>
        <p:spPr>
          <a:xfrm>
            <a:off x="320040" y="4892548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0D1B2A"/>
                </a:solidFill>
              </a:defRPr>
            </a:lvl1pPr>
          </a:lstStyle>
          <a:p>
            <a:pPr/>
            <a:r>
              <a:t>Our workstream: Fine-Tuning for known patterns · Prompt Engineering for prototyping · Frontier models for novel edge cases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"/>
          <p:cNvSpPr txBox="1"/>
          <p:nvPr/>
        </p:nvSpPr>
        <p:spPr>
          <a:xfrm>
            <a:off x="274320" y="164041"/>
            <a:ext cx="8595360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0D1B2A"/>
                </a:solidFill>
              </a:defRPr>
            </a:lvl1pPr>
          </a:lstStyle>
          <a:p>
            <a:pPr/>
            <a:r>
              <a:t>RAG vs Fine-Tuning — Mechanisms, Strengths &amp; When to Use Each</a:t>
            </a:r>
          </a:p>
        </p:txBody>
      </p:sp>
      <p:sp>
        <p:nvSpPr>
          <p:cNvPr id="118" name="Shape 2"/>
          <p:cNvSpPr/>
          <p:nvPr/>
        </p:nvSpPr>
        <p:spPr>
          <a:xfrm>
            <a:off x="182879" y="658368"/>
            <a:ext cx="4206242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88900" dist="25400" dir="81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Shape 3"/>
          <p:cNvSpPr/>
          <p:nvPr/>
        </p:nvSpPr>
        <p:spPr>
          <a:xfrm>
            <a:off x="182879" y="658368"/>
            <a:ext cx="4206242" cy="54864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4"/>
          <p:cNvSpPr txBox="1"/>
          <p:nvPr/>
        </p:nvSpPr>
        <p:spPr>
          <a:xfrm>
            <a:off x="320039" y="794284"/>
            <a:ext cx="3977642" cy="167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⚙  Fine-Tuning — Updates the Model's Weights</a:t>
            </a:r>
          </a:p>
        </p:txBody>
      </p:sp>
      <p:sp>
        <p:nvSpPr>
          <p:cNvPr id="121" name="Shape 5"/>
          <p:cNvSpPr/>
          <p:nvPr/>
        </p:nvSpPr>
        <p:spPr>
          <a:xfrm>
            <a:off x="292608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6"/>
          <p:cNvSpPr txBox="1"/>
          <p:nvPr/>
        </p:nvSpPr>
        <p:spPr>
          <a:xfrm>
            <a:off x="292608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CBD5E1"/>
                </a:solidFill>
              </a:defRPr>
            </a:pPr>
            <a:r>
              <a:t>Training</a:t>
            </a:r>
          </a:p>
          <a:p>
            <a:pPr algn="ctr">
              <a:defRPr sz="800">
                <a:solidFill>
                  <a:srgbClr val="CBD5E1"/>
                </a:solidFill>
              </a:defRPr>
            </a:pPr>
            <a:r>
              <a:t>Examples</a:t>
            </a:r>
          </a:p>
        </p:txBody>
      </p:sp>
      <p:sp>
        <p:nvSpPr>
          <p:cNvPr id="123" name="Text 7"/>
          <p:cNvSpPr txBox="1"/>
          <p:nvPr/>
        </p:nvSpPr>
        <p:spPr>
          <a:xfrm>
            <a:off x="1143000" y="1322754"/>
            <a:ext cx="1463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59E0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4" name="Shape 8"/>
          <p:cNvSpPr/>
          <p:nvPr/>
        </p:nvSpPr>
        <p:spPr>
          <a:xfrm>
            <a:off x="1298447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9"/>
          <p:cNvSpPr txBox="1"/>
          <p:nvPr/>
        </p:nvSpPr>
        <p:spPr>
          <a:xfrm>
            <a:off x="1298447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F59E0B"/>
                </a:solidFill>
              </a:defRPr>
            </a:pPr>
            <a:r>
              <a:t>Cross-Entropy</a:t>
            </a:r>
          </a:p>
          <a:p>
            <a:pPr algn="ctr">
              <a:defRPr sz="800">
                <a:solidFill>
                  <a:srgbClr val="F59E0B"/>
                </a:solidFill>
              </a:defRPr>
            </a:pPr>
            <a:r>
              <a:t>Loss</a:t>
            </a:r>
          </a:p>
        </p:txBody>
      </p:sp>
      <p:sp>
        <p:nvSpPr>
          <p:cNvPr id="126" name="Text 10"/>
          <p:cNvSpPr txBox="1"/>
          <p:nvPr/>
        </p:nvSpPr>
        <p:spPr>
          <a:xfrm>
            <a:off x="2148839" y="1322754"/>
            <a:ext cx="1463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59E0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7" name="Shape 11"/>
          <p:cNvSpPr/>
          <p:nvPr/>
        </p:nvSpPr>
        <p:spPr>
          <a:xfrm>
            <a:off x="2304288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12"/>
          <p:cNvSpPr txBox="1"/>
          <p:nvPr/>
        </p:nvSpPr>
        <p:spPr>
          <a:xfrm>
            <a:off x="2304288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F59E0B"/>
                </a:solidFill>
              </a:defRPr>
            </a:pPr>
            <a:r>
              <a:t>LoRA ΔW</a:t>
            </a:r>
          </a:p>
          <a:p>
            <a:pPr algn="ctr">
              <a:defRPr sz="800">
                <a:solidFill>
                  <a:srgbClr val="F59E0B"/>
                </a:solidFill>
              </a:defRPr>
            </a:pPr>
            <a:r>
              <a:t>Update</a:t>
            </a:r>
          </a:p>
        </p:txBody>
      </p:sp>
      <p:sp>
        <p:nvSpPr>
          <p:cNvPr id="129" name="Text 13"/>
          <p:cNvSpPr txBox="1"/>
          <p:nvPr/>
        </p:nvSpPr>
        <p:spPr>
          <a:xfrm>
            <a:off x="3154679" y="1322754"/>
            <a:ext cx="1463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59E0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0" name="Shape 14"/>
          <p:cNvSpPr/>
          <p:nvPr/>
        </p:nvSpPr>
        <p:spPr>
          <a:xfrm>
            <a:off x="3310128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5"/>
          <p:cNvSpPr txBox="1"/>
          <p:nvPr/>
        </p:nvSpPr>
        <p:spPr>
          <a:xfrm>
            <a:off x="3310128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22C55E"/>
                </a:solidFill>
              </a:defRPr>
            </a:pPr>
            <a:r>
              <a:t>Weights</a:t>
            </a:r>
          </a:p>
          <a:p>
            <a:pPr algn="ctr">
              <a:defRPr sz="800">
                <a:solidFill>
                  <a:srgbClr val="22C55E"/>
                </a:solidFill>
              </a:defRPr>
            </a:pPr>
            <a:r>
              <a:t>Changed</a:t>
            </a:r>
          </a:p>
        </p:txBody>
      </p:sp>
      <p:sp>
        <p:nvSpPr>
          <p:cNvPr id="132" name="Shape 16"/>
          <p:cNvSpPr/>
          <p:nvPr/>
        </p:nvSpPr>
        <p:spPr>
          <a:xfrm>
            <a:off x="4754879" y="658368"/>
            <a:ext cx="4206242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00B4D8"/>
            </a:solidFill>
          </a:ln>
          <a:effectLst>
            <a:outerShdw sx="100000" sy="100000" kx="0" ky="0" algn="b" rotWithShape="0" blurRad="88900" dist="25400" dir="81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Shape 17"/>
          <p:cNvSpPr/>
          <p:nvPr/>
        </p:nvSpPr>
        <p:spPr>
          <a:xfrm>
            <a:off x="4754879" y="658368"/>
            <a:ext cx="4206242" cy="54864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8"/>
          <p:cNvSpPr txBox="1"/>
          <p:nvPr/>
        </p:nvSpPr>
        <p:spPr>
          <a:xfrm>
            <a:off x="4892040" y="763523"/>
            <a:ext cx="3977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B4D8"/>
                </a:solidFill>
              </a:defRPr>
            </a:lvl1pPr>
          </a:lstStyle>
          <a:p>
            <a:pPr/>
            <a:r>
              <a:t>🔍  RAG — Retrieves Context, Weights Stay Frozen</a:t>
            </a:r>
          </a:p>
        </p:txBody>
      </p:sp>
      <p:sp>
        <p:nvSpPr>
          <p:cNvPr id="135" name="Shape 19"/>
          <p:cNvSpPr/>
          <p:nvPr/>
        </p:nvSpPr>
        <p:spPr>
          <a:xfrm>
            <a:off x="4864608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20"/>
          <p:cNvSpPr txBox="1"/>
          <p:nvPr/>
        </p:nvSpPr>
        <p:spPr>
          <a:xfrm>
            <a:off x="4864608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CBD5E1"/>
                </a:solidFill>
              </a:defRPr>
            </a:pPr>
            <a:r>
              <a:t>Query /</a:t>
            </a:r>
          </a:p>
          <a:p>
            <a:pPr algn="ctr">
              <a:defRPr sz="800">
                <a:solidFill>
                  <a:srgbClr val="CBD5E1"/>
                </a:solidFill>
              </a:defRPr>
            </a:pPr>
            <a:r>
              <a:t>Spec Input</a:t>
            </a:r>
          </a:p>
        </p:txBody>
      </p:sp>
      <p:sp>
        <p:nvSpPr>
          <p:cNvPr id="137" name="Text 21"/>
          <p:cNvSpPr txBox="1"/>
          <p:nvPr/>
        </p:nvSpPr>
        <p:spPr>
          <a:xfrm>
            <a:off x="5715000" y="1322754"/>
            <a:ext cx="1463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0B4D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8" name="Shape 22"/>
          <p:cNvSpPr/>
          <p:nvPr/>
        </p:nvSpPr>
        <p:spPr>
          <a:xfrm>
            <a:off x="5870447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23"/>
          <p:cNvSpPr txBox="1"/>
          <p:nvPr/>
        </p:nvSpPr>
        <p:spPr>
          <a:xfrm>
            <a:off x="5870447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00B4D8"/>
                </a:solidFill>
              </a:defRPr>
            </a:pPr>
            <a:r>
              <a:t>Vector</a:t>
            </a:r>
          </a:p>
          <a:p>
            <a:pPr algn="ctr">
              <a:defRPr sz="800">
                <a:solidFill>
                  <a:srgbClr val="00B4D8"/>
                </a:solidFill>
              </a:defRPr>
            </a:pPr>
            <a:r>
              <a:t>Retrieval</a:t>
            </a:r>
          </a:p>
        </p:txBody>
      </p:sp>
      <p:sp>
        <p:nvSpPr>
          <p:cNvPr id="140" name="Text 24"/>
          <p:cNvSpPr txBox="1"/>
          <p:nvPr/>
        </p:nvSpPr>
        <p:spPr>
          <a:xfrm>
            <a:off x="6720840" y="1322754"/>
            <a:ext cx="1463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0B4D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1" name="Shape 25"/>
          <p:cNvSpPr/>
          <p:nvPr/>
        </p:nvSpPr>
        <p:spPr>
          <a:xfrm>
            <a:off x="6876288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26"/>
          <p:cNvSpPr txBox="1"/>
          <p:nvPr/>
        </p:nvSpPr>
        <p:spPr>
          <a:xfrm>
            <a:off x="6876288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00B4D8"/>
                </a:solidFill>
              </a:defRPr>
            </a:pPr>
            <a:r>
              <a:t>Context</a:t>
            </a:r>
          </a:p>
          <a:p>
            <a:pPr algn="ctr">
              <a:defRPr sz="800">
                <a:solidFill>
                  <a:srgbClr val="00B4D8"/>
                </a:solidFill>
              </a:defRPr>
            </a:pPr>
            <a:r>
              <a:t>Injected</a:t>
            </a:r>
          </a:p>
        </p:txBody>
      </p:sp>
      <p:sp>
        <p:nvSpPr>
          <p:cNvPr id="143" name="Text 27"/>
          <p:cNvSpPr txBox="1"/>
          <p:nvPr/>
        </p:nvSpPr>
        <p:spPr>
          <a:xfrm>
            <a:off x="7726680" y="1322754"/>
            <a:ext cx="1463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0B4D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4" name="Shape 28"/>
          <p:cNvSpPr/>
          <p:nvPr/>
        </p:nvSpPr>
        <p:spPr>
          <a:xfrm>
            <a:off x="7882128" y="1060703"/>
            <a:ext cx="841249" cy="658369"/>
          </a:xfrm>
          <a:prstGeom prst="rect">
            <a:avLst/>
          </a:prstGeom>
          <a:solidFill>
            <a:srgbClr val="1E3148"/>
          </a:solidFill>
          <a:ln w="12700">
            <a:solidFill>
              <a:srgbClr val="A855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9"/>
          <p:cNvSpPr txBox="1"/>
          <p:nvPr/>
        </p:nvSpPr>
        <p:spPr>
          <a:xfrm>
            <a:off x="7882128" y="1274099"/>
            <a:ext cx="8412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A855F7"/>
                </a:solidFill>
              </a:defRPr>
            </a:pPr>
            <a:r>
              <a:t>Weights</a:t>
            </a:r>
          </a:p>
          <a:p>
            <a:pPr algn="ctr">
              <a:defRPr sz="800">
                <a:solidFill>
                  <a:srgbClr val="A855F7"/>
                </a:solidFill>
              </a:defRPr>
            </a:pPr>
            <a:r>
              <a:t>Unchanged</a:t>
            </a:r>
          </a:p>
        </p:txBody>
      </p:sp>
      <p:sp>
        <p:nvSpPr>
          <p:cNvPr id="146" name="Shape 30"/>
          <p:cNvSpPr/>
          <p:nvPr/>
        </p:nvSpPr>
        <p:spPr>
          <a:xfrm flipH="1">
            <a:off x="4526279" y="658368"/>
            <a:ext cx="1" cy="4315969"/>
          </a:xfrm>
          <a:prstGeom prst="line">
            <a:avLst/>
          </a:prstGeom>
          <a:ln w="19050">
            <a:solidFill>
              <a:srgbClr val="1E31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31"/>
          <p:cNvSpPr/>
          <p:nvPr/>
        </p:nvSpPr>
        <p:spPr>
          <a:xfrm>
            <a:off x="182879" y="2148839"/>
            <a:ext cx="4206242" cy="1481329"/>
          </a:xfrm>
          <a:prstGeom prst="rect">
            <a:avLst/>
          </a:prstGeom>
          <a:solidFill>
            <a:srgbClr val="1A2F1A"/>
          </a:solidFill>
          <a:ln w="15240"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32"/>
          <p:cNvSpPr txBox="1"/>
          <p:nvPr/>
        </p:nvSpPr>
        <p:spPr>
          <a:xfrm>
            <a:off x="320039" y="2275042"/>
            <a:ext cx="3931922" cy="1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22C55E"/>
                </a:solidFill>
              </a:defRPr>
            </a:lvl1pPr>
          </a:lstStyle>
          <a:p>
            <a:pPr/>
            <a:r>
              <a:t>✔  Use Fine-Tuning when...</a:t>
            </a:r>
          </a:p>
        </p:txBody>
      </p:sp>
      <p:sp>
        <p:nvSpPr>
          <p:cNvPr id="149" name="Text 33"/>
          <p:cNvSpPr txBox="1"/>
          <p:nvPr/>
        </p:nvSpPr>
        <p:spPr>
          <a:xfrm>
            <a:off x="320039" y="2583688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Output must follow strict proprietary conventions &amp; structure</a:t>
            </a:r>
          </a:p>
        </p:txBody>
      </p:sp>
      <p:sp>
        <p:nvSpPr>
          <p:cNvPr id="150" name="Text 34"/>
          <p:cNvSpPr txBox="1"/>
          <p:nvPr/>
        </p:nvSpPr>
        <p:spPr>
          <a:xfrm>
            <a:off x="320039" y="2839720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Same pattern repeats 100s of times (attributes, rules, configs)</a:t>
            </a:r>
          </a:p>
        </p:txBody>
      </p:sp>
      <p:sp>
        <p:nvSpPr>
          <p:cNvPr id="151" name="Text 35"/>
          <p:cNvSpPr txBox="1"/>
          <p:nvPr/>
        </p:nvSpPr>
        <p:spPr>
          <a:xfrm>
            <a:off x="320039" y="3095751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Reducing hallucination of domain-specific idioms &amp; terminology</a:t>
            </a:r>
          </a:p>
        </p:txBody>
      </p:sp>
      <p:sp>
        <p:nvSpPr>
          <p:cNvPr id="152" name="Text 36"/>
          <p:cNvSpPr txBox="1"/>
          <p:nvPr/>
        </p:nvSpPr>
        <p:spPr>
          <a:xfrm>
            <a:off x="320039" y="3351784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Cost optimality at scale — amortize infra over many generations</a:t>
            </a:r>
          </a:p>
        </p:txBody>
      </p:sp>
      <p:sp>
        <p:nvSpPr>
          <p:cNvPr id="153" name="Shape 37"/>
          <p:cNvSpPr/>
          <p:nvPr/>
        </p:nvSpPr>
        <p:spPr>
          <a:xfrm>
            <a:off x="4754879" y="2148839"/>
            <a:ext cx="4206242" cy="1481329"/>
          </a:xfrm>
          <a:prstGeom prst="rect">
            <a:avLst/>
          </a:prstGeom>
          <a:solidFill>
            <a:srgbClr val="0D2530"/>
          </a:solidFill>
          <a:ln w="1524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38"/>
          <p:cNvSpPr txBox="1"/>
          <p:nvPr/>
        </p:nvSpPr>
        <p:spPr>
          <a:xfrm>
            <a:off x="4892040" y="2275042"/>
            <a:ext cx="3931921" cy="1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B4D8"/>
                </a:solidFill>
              </a:defRPr>
            </a:lvl1pPr>
          </a:lstStyle>
          <a:p>
            <a:pPr/>
            <a:r>
              <a:t>✔  Use RAG when...</a:t>
            </a:r>
          </a:p>
        </p:txBody>
      </p:sp>
      <p:sp>
        <p:nvSpPr>
          <p:cNvPr id="155" name="Text 39"/>
          <p:cNvSpPr txBox="1"/>
          <p:nvPr/>
        </p:nvSpPr>
        <p:spPr>
          <a:xfrm>
            <a:off x="4892040" y="2583688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Knowledge changes frequently — spec versions, policy updates</a:t>
            </a:r>
          </a:p>
        </p:txBody>
      </p:sp>
      <p:sp>
        <p:nvSpPr>
          <p:cNvPr id="156" name="Text 40"/>
          <p:cNvSpPr txBox="1"/>
          <p:nvPr/>
        </p:nvSpPr>
        <p:spPr>
          <a:xfrm>
            <a:off x="4892040" y="2839720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Attribute-specific detail must be injected at inference time</a:t>
            </a:r>
          </a:p>
        </p:txBody>
      </p:sp>
      <p:sp>
        <p:nvSpPr>
          <p:cNvPr id="157" name="Text 41"/>
          <p:cNvSpPr txBox="1"/>
          <p:nvPr/>
        </p:nvSpPr>
        <p:spPr>
          <a:xfrm>
            <a:off x="4892040" y="3095751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Long-tail coverage of edge cases unseen during training</a:t>
            </a:r>
          </a:p>
        </p:txBody>
      </p:sp>
      <p:sp>
        <p:nvSpPr>
          <p:cNvPr id="158" name="Text 42"/>
          <p:cNvSpPr txBox="1"/>
          <p:nvPr/>
        </p:nvSpPr>
        <p:spPr>
          <a:xfrm>
            <a:off x="4892040" y="3351784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·  Source attribution &amp; auditability of generated output needed</a:t>
            </a:r>
          </a:p>
        </p:txBody>
      </p:sp>
      <p:sp>
        <p:nvSpPr>
          <p:cNvPr id="159" name="Shape 43"/>
          <p:cNvSpPr/>
          <p:nvPr/>
        </p:nvSpPr>
        <p:spPr>
          <a:xfrm>
            <a:off x="182879" y="3694176"/>
            <a:ext cx="1993394" cy="1207009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44"/>
          <p:cNvSpPr txBox="1"/>
          <p:nvPr/>
        </p:nvSpPr>
        <p:spPr>
          <a:xfrm>
            <a:off x="292608" y="38135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EF4444"/>
                </a:solidFill>
              </a:defRPr>
            </a:lvl1pPr>
          </a:lstStyle>
          <a:p>
            <a:pPr/>
            <a:r>
              <a:t>✗  Don't rely on FT for...</a:t>
            </a:r>
          </a:p>
        </p:txBody>
      </p:sp>
      <p:sp>
        <p:nvSpPr>
          <p:cNvPr id="161" name="Text 45"/>
          <p:cNvSpPr txBox="1"/>
          <p:nvPr/>
        </p:nvSpPr>
        <p:spPr>
          <a:xfrm>
            <a:off x="292608" y="410159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·  Novel / unseen business logic</a:t>
            </a:r>
          </a:p>
        </p:txBody>
      </p:sp>
      <p:sp>
        <p:nvSpPr>
          <p:cNvPr id="162" name="Text 46"/>
          <p:cNvSpPr txBox="1"/>
          <p:nvPr/>
        </p:nvSpPr>
        <p:spPr>
          <a:xfrm>
            <a:off x="292608" y="4357623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·  Live spec retrieval / updates</a:t>
            </a:r>
          </a:p>
        </p:txBody>
      </p:sp>
      <p:sp>
        <p:nvSpPr>
          <p:cNvPr id="163" name="Text 47"/>
          <p:cNvSpPr txBox="1"/>
          <p:nvPr/>
        </p:nvSpPr>
        <p:spPr>
          <a:xfrm>
            <a:off x="292608" y="46136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·  Source auditability</a:t>
            </a:r>
          </a:p>
        </p:txBody>
      </p:sp>
      <p:sp>
        <p:nvSpPr>
          <p:cNvPr id="164" name="Shape 48"/>
          <p:cNvSpPr/>
          <p:nvPr/>
        </p:nvSpPr>
        <p:spPr>
          <a:xfrm>
            <a:off x="2249423" y="3694176"/>
            <a:ext cx="2231137" cy="1207009"/>
          </a:xfrm>
          <a:prstGeom prst="rect">
            <a:avLst/>
          </a:prstGeom>
          <a:solidFill>
            <a:srgbClr val="1E3148"/>
          </a:solidFill>
          <a:ln w="19050">
            <a:solidFill>
              <a:srgbClr val="A855F7"/>
            </a:solidFill>
          </a:ln>
          <a:effectLst>
            <a:outerShdw sx="100000" sy="100000" kx="0" ky="0" algn="b" rotWithShape="0" blurRad="88900" dist="25400" dir="81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Text 49"/>
          <p:cNvSpPr txBox="1"/>
          <p:nvPr/>
        </p:nvSpPr>
        <p:spPr>
          <a:xfrm>
            <a:off x="2340864" y="3808520"/>
            <a:ext cx="204825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A855F7"/>
                </a:solidFill>
              </a:defRPr>
            </a:lvl1pPr>
          </a:lstStyle>
          <a:p>
            <a:pPr/>
            <a:r>
              <a:t>Key Difference</a:t>
            </a:r>
          </a:p>
        </p:txBody>
      </p:sp>
      <p:sp>
        <p:nvSpPr>
          <p:cNvPr id="166" name="Text 50"/>
          <p:cNvSpPr txBox="1"/>
          <p:nvPr/>
        </p:nvSpPr>
        <p:spPr>
          <a:xfrm>
            <a:off x="2359151" y="4054383"/>
            <a:ext cx="2029969" cy="35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Fine-Tuning bakes knowledge into model weights — permanent, fast at inference, but frozen in time.</a:t>
            </a:r>
          </a:p>
        </p:txBody>
      </p:sp>
      <p:sp>
        <p:nvSpPr>
          <p:cNvPr id="167" name="Text 51"/>
          <p:cNvSpPr txBox="1"/>
          <p:nvPr/>
        </p:nvSpPr>
        <p:spPr>
          <a:xfrm>
            <a:off x="2359151" y="4511075"/>
            <a:ext cx="202996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RAG injects knowledge at runtime — dynamic, auditable, but adds latency per call.</a:t>
            </a:r>
          </a:p>
        </p:txBody>
      </p:sp>
      <p:sp>
        <p:nvSpPr>
          <p:cNvPr id="168" name="Shape 52"/>
          <p:cNvSpPr/>
          <p:nvPr/>
        </p:nvSpPr>
        <p:spPr>
          <a:xfrm>
            <a:off x="4754879" y="3694176"/>
            <a:ext cx="1993394" cy="1207009"/>
          </a:xfrm>
          <a:prstGeom prst="rect">
            <a:avLst/>
          </a:prstGeom>
          <a:solidFill>
            <a:srgbClr val="0D2530"/>
          </a:solidFill>
          <a:ln w="12700">
            <a:solidFill>
              <a:srgbClr val="E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53"/>
          <p:cNvSpPr txBox="1"/>
          <p:nvPr/>
        </p:nvSpPr>
        <p:spPr>
          <a:xfrm>
            <a:off x="4864608" y="38135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EF4444"/>
                </a:solidFill>
              </a:defRPr>
            </a:lvl1pPr>
          </a:lstStyle>
          <a:p>
            <a:pPr/>
            <a:r>
              <a:t>✗  Don't rely on RAG for...</a:t>
            </a:r>
          </a:p>
        </p:txBody>
      </p:sp>
      <p:sp>
        <p:nvSpPr>
          <p:cNvPr id="170" name="Text 54"/>
          <p:cNvSpPr txBox="1"/>
          <p:nvPr/>
        </p:nvSpPr>
        <p:spPr>
          <a:xfrm>
            <a:off x="4864608" y="410159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·  Convention &amp; style learning</a:t>
            </a:r>
          </a:p>
        </p:txBody>
      </p:sp>
      <p:sp>
        <p:nvSpPr>
          <p:cNvPr id="171" name="Text 55"/>
          <p:cNvSpPr txBox="1"/>
          <p:nvPr/>
        </p:nvSpPr>
        <p:spPr>
          <a:xfrm>
            <a:off x="4864608" y="4357623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·  High-throughput cheap inference</a:t>
            </a:r>
          </a:p>
        </p:txBody>
      </p:sp>
      <p:sp>
        <p:nvSpPr>
          <p:cNvPr id="172" name="Text 56"/>
          <p:cNvSpPr txBox="1"/>
          <p:nvPr/>
        </p:nvSpPr>
        <p:spPr>
          <a:xfrm>
            <a:off x="4864608" y="46136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·  Structural pattern consistency</a:t>
            </a:r>
          </a:p>
        </p:txBody>
      </p:sp>
      <p:sp>
        <p:nvSpPr>
          <p:cNvPr id="173" name="Shape 57"/>
          <p:cNvSpPr/>
          <p:nvPr/>
        </p:nvSpPr>
        <p:spPr>
          <a:xfrm>
            <a:off x="6821423" y="3694176"/>
            <a:ext cx="2139697" cy="1207009"/>
          </a:xfrm>
          <a:prstGeom prst="rect">
            <a:avLst/>
          </a:prstGeom>
          <a:solidFill>
            <a:srgbClr val="0F2010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88900" dist="25400" dir="8100000">
              <a:srgbClr val="000000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" name="Text 58"/>
          <p:cNvSpPr txBox="1"/>
          <p:nvPr/>
        </p:nvSpPr>
        <p:spPr>
          <a:xfrm>
            <a:off x="6931152" y="3769105"/>
            <a:ext cx="1920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2C55E"/>
                </a:solidFill>
              </a:defRPr>
            </a:lvl1pPr>
          </a:lstStyle>
          <a:p>
            <a:pPr/>
            <a:r>
              <a:t>⚡  Together = Best</a:t>
            </a:r>
          </a:p>
        </p:txBody>
      </p:sp>
      <p:sp>
        <p:nvSpPr>
          <p:cNvPr id="175" name="Text 59"/>
          <p:cNvSpPr txBox="1"/>
          <p:nvPr/>
        </p:nvSpPr>
        <p:spPr>
          <a:xfrm>
            <a:off x="6931152" y="4182907"/>
            <a:ext cx="1920241" cy="485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BD5E1"/>
                </a:solidFill>
              </a:defRPr>
            </a:lvl1pPr>
          </a:lstStyle>
          <a:p>
            <a:pPr/>
            <a:r>
              <a:t>FT learns your conventions &amp; patterns. RAG injects live spec details &amp; novel context. Our hybrid pipeline uses both — FT model + RAG at inference for maximum reliability.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D1B2A"/>
                </a:solidFill>
              </a:defRPr>
            </a:lvl1pPr>
          </a:lstStyle>
          <a:p>
            <a:pPr/>
            <a:r>
              <a:t>When Fine-Tuning Is More Suitable</a:t>
            </a:r>
          </a:p>
        </p:txBody>
      </p:sp>
      <p:sp>
        <p:nvSpPr>
          <p:cNvPr id="179" name="Text 2"/>
          <p:cNvSpPr txBox="1"/>
          <p:nvPr/>
        </p:nvSpPr>
        <p:spPr>
          <a:xfrm>
            <a:off x="365759" y="728394"/>
            <a:ext cx="8229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B4D8"/>
                </a:solidFill>
              </a:defRPr>
            </a:lvl1pPr>
          </a:lstStyle>
          <a:p>
            <a:pPr/>
            <a:r>
              <a:t>Reproducibility  ·  Specific Objectives  ·  More Control on Outcomes  ·  Learning we have</a:t>
            </a:r>
          </a:p>
        </p:txBody>
      </p:sp>
      <p:sp>
        <p:nvSpPr>
          <p:cNvPr id="180" name="Shape 3"/>
          <p:cNvSpPr/>
          <p:nvPr/>
        </p:nvSpPr>
        <p:spPr>
          <a:xfrm>
            <a:off x="228600" y="1024127"/>
            <a:ext cx="4297680" cy="1170434"/>
          </a:xfrm>
          <a:prstGeom prst="rect">
            <a:avLst/>
          </a:prstGeom>
          <a:solidFill>
            <a:srgbClr val="162232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" name="Shape 4"/>
          <p:cNvSpPr/>
          <p:nvPr/>
        </p:nvSpPr>
        <p:spPr>
          <a:xfrm>
            <a:off x="228600" y="1024127"/>
            <a:ext cx="64008" cy="1170434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5"/>
          <p:cNvSpPr txBox="1"/>
          <p:nvPr/>
        </p:nvSpPr>
        <p:spPr>
          <a:xfrm>
            <a:off x="384047" y="1156760"/>
            <a:ext cx="34747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2C55E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83" name="Text 6"/>
          <p:cNvSpPr txBox="1"/>
          <p:nvPr/>
        </p:nvSpPr>
        <p:spPr>
          <a:xfrm>
            <a:off x="777240" y="1176450"/>
            <a:ext cx="36118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Proprietary Conventions &amp; Implicit Structure</a:t>
            </a:r>
          </a:p>
        </p:txBody>
      </p:sp>
      <p:sp>
        <p:nvSpPr>
          <p:cNvPr id="184" name="Text 7"/>
          <p:cNvSpPr txBox="1"/>
          <p:nvPr/>
        </p:nvSpPr>
        <p:spPr>
          <a:xfrm>
            <a:off x="384048" y="1516293"/>
            <a:ext cx="4041648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Every organization has naming conventions, file structures, and code patterns that are never written down in specs. Fine-tuning bakes these patterns into model weights from examples — no prompt can reliably carry 35K-line structural conventions across every call.</a:t>
            </a:r>
          </a:p>
        </p:txBody>
      </p:sp>
      <p:sp>
        <p:nvSpPr>
          <p:cNvPr id="185" name="Shape 8"/>
          <p:cNvSpPr/>
          <p:nvPr/>
        </p:nvSpPr>
        <p:spPr>
          <a:xfrm>
            <a:off x="228600" y="2322576"/>
            <a:ext cx="4297680" cy="1170433"/>
          </a:xfrm>
          <a:prstGeom prst="rect">
            <a:avLst/>
          </a:prstGeom>
          <a:solidFill>
            <a:srgbClr val="162232"/>
          </a:solidFill>
          <a:ln w="19050">
            <a:solidFill>
              <a:srgbClr val="00B4D8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" name="Shape 9"/>
          <p:cNvSpPr/>
          <p:nvPr/>
        </p:nvSpPr>
        <p:spPr>
          <a:xfrm>
            <a:off x="228600" y="2322576"/>
            <a:ext cx="64008" cy="1170433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10"/>
          <p:cNvSpPr txBox="1"/>
          <p:nvPr/>
        </p:nvSpPr>
        <p:spPr>
          <a:xfrm>
            <a:off x="384047" y="2455208"/>
            <a:ext cx="34747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0B4D8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8" name="Text 11"/>
          <p:cNvSpPr txBox="1"/>
          <p:nvPr/>
        </p:nvSpPr>
        <p:spPr>
          <a:xfrm>
            <a:off x="777240" y="2474898"/>
            <a:ext cx="36118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High-Volume, Pattern-Heavy Output</a:t>
            </a:r>
          </a:p>
        </p:txBody>
      </p:sp>
      <p:sp>
        <p:nvSpPr>
          <p:cNvPr id="189" name="Text 12"/>
          <p:cNvSpPr txBox="1"/>
          <p:nvPr/>
        </p:nvSpPr>
        <p:spPr>
          <a:xfrm>
            <a:off x="384048" y="2884591"/>
            <a:ext cx="4041648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When the same structural pattern must be applied hundreds of times — across attributes, rules, or config entries — fine-tuning excels. SFT teaches the model to reproduce the pattern reliably, not rediscover it from scratch each inference.</a:t>
            </a:r>
          </a:p>
        </p:txBody>
      </p:sp>
      <p:sp>
        <p:nvSpPr>
          <p:cNvPr id="190" name="Shape 13"/>
          <p:cNvSpPr/>
          <p:nvPr/>
        </p:nvSpPr>
        <p:spPr>
          <a:xfrm>
            <a:off x="228600" y="3621023"/>
            <a:ext cx="4297680" cy="1170433"/>
          </a:xfrm>
          <a:prstGeom prst="rect">
            <a:avLst/>
          </a:prstGeom>
          <a:solidFill>
            <a:srgbClr val="162232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Shape 14"/>
          <p:cNvSpPr/>
          <p:nvPr/>
        </p:nvSpPr>
        <p:spPr>
          <a:xfrm>
            <a:off x="228600" y="3621023"/>
            <a:ext cx="64008" cy="1170433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5"/>
          <p:cNvSpPr txBox="1"/>
          <p:nvPr/>
        </p:nvSpPr>
        <p:spPr>
          <a:xfrm>
            <a:off x="384047" y="3753656"/>
            <a:ext cx="34747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93" name="Text 16"/>
          <p:cNvSpPr txBox="1"/>
          <p:nvPr/>
        </p:nvSpPr>
        <p:spPr>
          <a:xfrm>
            <a:off x="777240" y="3773346"/>
            <a:ext cx="36118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Reproducibility &amp; Consistency</a:t>
            </a:r>
          </a:p>
        </p:txBody>
      </p:sp>
      <p:sp>
        <p:nvSpPr>
          <p:cNvPr id="194" name="Text 17"/>
          <p:cNvSpPr txBox="1"/>
          <p:nvPr/>
        </p:nvSpPr>
        <p:spPr>
          <a:xfrm>
            <a:off x="384048" y="4183038"/>
            <a:ext cx="4041648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Fine-tuning shifts probability mass to the correct token at each position. Once trained, the model assigns very high probability to the expected pattern — reducing variability across runs compared to a base or prompted model.</a:t>
            </a:r>
          </a:p>
        </p:txBody>
      </p:sp>
      <p:sp>
        <p:nvSpPr>
          <p:cNvPr id="195" name="Shape 18"/>
          <p:cNvSpPr/>
          <p:nvPr/>
        </p:nvSpPr>
        <p:spPr>
          <a:xfrm>
            <a:off x="4709159" y="1024127"/>
            <a:ext cx="4206241" cy="1170434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Shape 19"/>
          <p:cNvSpPr/>
          <p:nvPr/>
        </p:nvSpPr>
        <p:spPr>
          <a:xfrm>
            <a:off x="4709159" y="1024127"/>
            <a:ext cx="64009" cy="1170434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20"/>
          <p:cNvSpPr txBox="1"/>
          <p:nvPr/>
        </p:nvSpPr>
        <p:spPr>
          <a:xfrm>
            <a:off x="4864608" y="1156760"/>
            <a:ext cx="3474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A855F7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98" name="Text 21"/>
          <p:cNvSpPr txBox="1"/>
          <p:nvPr/>
        </p:nvSpPr>
        <p:spPr>
          <a:xfrm>
            <a:off x="5257800" y="1176450"/>
            <a:ext cx="3520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Domain Vocabulary Internalization</a:t>
            </a:r>
          </a:p>
        </p:txBody>
      </p:sp>
      <p:sp>
        <p:nvSpPr>
          <p:cNvPr id="199" name="Text 22"/>
          <p:cNvSpPr txBox="1"/>
          <p:nvPr/>
        </p:nvSpPr>
        <p:spPr>
          <a:xfrm>
            <a:off x="4864608" y="1516293"/>
            <a:ext cx="3950209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Technical domains have unique terminology: filter flags, exclusion codes, date logic idioms. Fine-tuning internalizes the mapping from spec language to code idiom into weights, dramatically reducing hallucination of generic patterns that look right but are wrong.</a:t>
            </a:r>
          </a:p>
        </p:txBody>
      </p:sp>
      <p:sp>
        <p:nvSpPr>
          <p:cNvPr id="200" name="Shape 23"/>
          <p:cNvSpPr/>
          <p:nvPr/>
        </p:nvSpPr>
        <p:spPr>
          <a:xfrm>
            <a:off x="4709159" y="2322576"/>
            <a:ext cx="4206241" cy="1170433"/>
          </a:xfrm>
          <a:prstGeom prst="rect">
            <a:avLst/>
          </a:prstGeom>
          <a:solidFill>
            <a:srgbClr val="162232"/>
          </a:solidFill>
          <a:ln w="19050">
            <a:solidFill>
              <a:srgbClr val="0077A8"/>
            </a:solidFill>
          </a:ln>
          <a:effectLst>
            <a:outerShdw sx="100000" sy="100000" kx="0" ky="0" algn="b" rotWithShape="0" blurRad="508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Shape 24"/>
          <p:cNvSpPr/>
          <p:nvPr/>
        </p:nvSpPr>
        <p:spPr>
          <a:xfrm>
            <a:off x="4709159" y="2322576"/>
            <a:ext cx="64009" cy="1170433"/>
          </a:xfrm>
          <a:prstGeom prst="rect">
            <a:avLst/>
          </a:prstGeom>
          <a:solidFill>
            <a:srgbClr val="0077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25"/>
          <p:cNvSpPr txBox="1"/>
          <p:nvPr/>
        </p:nvSpPr>
        <p:spPr>
          <a:xfrm>
            <a:off x="4864608" y="2455208"/>
            <a:ext cx="3474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077A8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03" name="Text 26"/>
          <p:cNvSpPr txBox="1"/>
          <p:nvPr/>
        </p:nvSpPr>
        <p:spPr>
          <a:xfrm>
            <a:off x="5257800" y="2474898"/>
            <a:ext cx="3520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Cost Optimality at Inference Scale</a:t>
            </a:r>
          </a:p>
        </p:txBody>
      </p:sp>
      <p:sp>
        <p:nvSpPr>
          <p:cNvPr id="204" name="Text 27"/>
          <p:cNvSpPr txBox="1"/>
          <p:nvPr/>
        </p:nvSpPr>
        <p:spPr>
          <a:xfrm>
            <a:off x="4864608" y="2884591"/>
            <a:ext cx="3950209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Generating large outputs via frontier model APIs is expensive. A fine-tuned local model (32B on A100/H100) amortizes infra cost across thousands of generations — 10–100x cheaper than per-call API billing at production scale.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"/>
          <p:cNvSpPr txBox="1"/>
          <p:nvPr/>
        </p:nvSpPr>
        <p:spPr>
          <a:xfrm>
            <a:off x="365759" y="204812"/>
            <a:ext cx="8412482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Fine-Tuning &amp; Reproducibility — What It Solves, What It Doesn't</a:t>
            </a:r>
          </a:p>
        </p:txBody>
      </p:sp>
      <p:sp>
        <p:nvSpPr>
          <p:cNvPr id="208" name="Shape 2"/>
          <p:cNvSpPr/>
          <p:nvPr/>
        </p:nvSpPr>
        <p:spPr>
          <a:xfrm>
            <a:off x="228599" y="749807"/>
            <a:ext cx="4160522" cy="422453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Shape 3"/>
          <p:cNvSpPr/>
          <p:nvPr/>
        </p:nvSpPr>
        <p:spPr>
          <a:xfrm>
            <a:off x="228599" y="749808"/>
            <a:ext cx="4160522" cy="64009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4"/>
          <p:cNvSpPr txBox="1"/>
          <p:nvPr/>
        </p:nvSpPr>
        <p:spPr>
          <a:xfrm>
            <a:off x="347471" y="969778"/>
            <a:ext cx="3950210" cy="163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2C55E"/>
                </a:solidFill>
              </a:defRPr>
            </a:lvl1pPr>
          </a:lstStyle>
          <a:p>
            <a:pPr/>
            <a:r>
              <a:t>✔  How Fine-Tuning Improves Reproducibility</a:t>
            </a:r>
          </a:p>
        </p:txBody>
      </p:sp>
      <p:sp>
        <p:nvSpPr>
          <p:cNvPr id="211" name="Text 5"/>
          <p:cNvSpPr txBox="1"/>
          <p:nvPr/>
        </p:nvSpPr>
        <p:spPr>
          <a:xfrm>
            <a:off x="347471" y="1362500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2C55E"/>
                </a:solidFill>
              </a:defRPr>
            </a:lvl1pPr>
          </a:lstStyle>
          <a:p>
            <a:pPr/>
            <a:r>
              <a:t>Probability mass shifts:</a:t>
            </a:r>
          </a:p>
        </p:txBody>
      </p:sp>
      <p:sp>
        <p:nvSpPr>
          <p:cNvPr id="212" name="Text 6"/>
          <p:cNvSpPr txBox="1"/>
          <p:nvPr/>
        </p:nvSpPr>
        <p:spPr>
          <a:xfrm>
            <a:off x="347471" y="1567855"/>
            <a:ext cx="3931922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Cross-entropy loss pushes P(correct_token) toward 1.0 at each trained position. After sufficient training, the model doesn't 'consider' alternatives — the correct pattern has overwhelmingly high probability.</a:t>
            </a:r>
          </a:p>
        </p:txBody>
      </p:sp>
      <p:sp>
        <p:nvSpPr>
          <p:cNvPr id="213" name="Text 7"/>
          <p:cNvSpPr txBox="1"/>
          <p:nvPr/>
        </p:nvSpPr>
        <p:spPr>
          <a:xfrm>
            <a:off x="347471" y="2112308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2C55E"/>
                </a:solidFill>
              </a:defRPr>
            </a:lvl1pPr>
          </a:lstStyle>
          <a:p>
            <a:pPr/>
            <a:r>
              <a:t>Structural consistency:</a:t>
            </a:r>
          </a:p>
        </p:txBody>
      </p:sp>
      <p:sp>
        <p:nvSpPr>
          <p:cNvPr id="214" name="Text 8"/>
          <p:cNvSpPr txBox="1"/>
          <p:nvPr/>
        </p:nvSpPr>
        <p:spPr>
          <a:xfrm>
            <a:off x="347471" y="2317663"/>
            <a:ext cx="3931922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Function order, code scaffold, and output layout are reproduced reliably because the model has seen them hundreds of times. A base model might restructure freely; a fine-tuned one follows the learned template.</a:t>
            </a:r>
          </a:p>
        </p:txBody>
      </p:sp>
      <p:sp>
        <p:nvSpPr>
          <p:cNvPr id="215" name="Text 9"/>
          <p:cNvSpPr txBox="1"/>
          <p:nvPr/>
        </p:nvSpPr>
        <p:spPr>
          <a:xfrm>
            <a:off x="347471" y="2862116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2C55E"/>
                </a:solidFill>
              </a:defRPr>
            </a:lvl1pPr>
          </a:lstStyle>
          <a:p>
            <a:pPr/>
            <a:r>
              <a:t>Convention locking:</a:t>
            </a:r>
          </a:p>
        </p:txBody>
      </p:sp>
      <p:sp>
        <p:nvSpPr>
          <p:cNvPr id="216" name="Text 10"/>
          <p:cNvSpPr txBox="1"/>
          <p:nvPr/>
        </p:nvSpPr>
        <p:spPr>
          <a:xfrm>
            <a:off x="347471" y="3067471"/>
            <a:ext cx="3931922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Whether it's a naming pattern, an operator style, or a flag idiom — fine-tuning locks the model to your convention rather than sampling from a broad distribution of valid-but-inconsistent alternatives.</a:t>
            </a:r>
          </a:p>
        </p:txBody>
      </p:sp>
      <p:sp>
        <p:nvSpPr>
          <p:cNvPr id="217" name="Text 11"/>
          <p:cNvSpPr txBox="1"/>
          <p:nvPr/>
        </p:nvSpPr>
        <p:spPr>
          <a:xfrm>
            <a:off x="347471" y="3611924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2C55E"/>
                </a:solidFill>
              </a:defRPr>
            </a:lvl1pPr>
          </a:lstStyle>
          <a:p>
            <a:pPr/>
            <a:r>
              <a:t>Reduced prompt sensitivity:</a:t>
            </a:r>
          </a:p>
        </p:txBody>
      </p:sp>
      <p:sp>
        <p:nvSpPr>
          <p:cNvPr id="218" name="Text 12"/>
          <p:cNvSpPr txBox="1"/>
          <p:nvPr/>
        </p:nvSpPr>
        <p:spPr>
          <a:xfrm>
            <a:off x="347471" y="3817279"/>
            <a:ext cx="3931922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A base model can produce wildly different outputs if the prompt wording changes slightly. Fine-tuned models are less sensitive — the weights encode the task, not just the prompt.</a:t>
            </a:r>
          </a:p>
        </p:txBody>
      </p:sp>
      <p:sp>
        <p:nvSpPr>
          <p:cNvPr id="219" name="Shape 13"/>
          <p:cNvSpPr/>
          <p:nvPr/>
        </p:nvSpPr>
        <p:spPr>
          <a:xfrm>
            <a:off x="4754879" y="749807"/>
            <a:ext cx="4160521" cy="4224530"/>
          </a:xfrm>
          <a:prstGeom prst="rect">
            <a:avLst/>
          </a:prstGeom>
          <a:solidFill>
            <a:srgbClr val="0D1B2A"/>
          </a:solidFill>
          <a:ln w="19050">
            <a:solidFill>
              <a:srgbClr val="EF4444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" name="Shape 14"/>
          <p:cNvSpPr/>
          <p:nvPr/>
        </p:nvSpPr>
        <p:spPr>
          <a:xfrm>
            <a:off x="4754879" y="749808"/>
            <a:ext cx="4160521" cy="64009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5"/>
          <p:cNvSpPr txBox="1"/>
          <p:nvPr/>
        </p:nvSpPr>
        <p:spPr>
          <a:xfrm>
            <a:off x="4873752" y="969778"/>
            <a:ext cx="3950209" cy="163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F4444"/>
                </a:solidFill>
              </a:defRPr>
            </a:lvl1pPr>
          </a:lstStyle>
          <a:p>
            <a:pPr/>
            <a:r>
              <a:t>✗  Why 100% Reproducibility Is Not Guaranteed</a:t>
            </a:r>
          </a:p>
        </p:txBody>
      </p:sp>
      <p:sp>
        <p:nvSpPr>
          <p:cNvPr id="222" name="Text 16"/>
          <p:cNvSpPr txBox="1"/>
          <p:nvPr/>
        </p:nvSpPr>
        <p:spPr>
          <a:xfrm>
            <a:off x="4873752" y="1362500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Sampling temperature &gt; 0:</a:t>
            </a:r>
          </a:p>
        </p:txBody>
      </p:sp>
      <p:sp>
        <p:nvSpPr>
          <p:cNvPr id="223" name="Text 17"/>
          <p:cNvSpPr txBox="1"/>
          <p:nvPr/>
        </p:nvSpPr>
        <p:spPr>
          <a:xfrm>
            <a:off x="4873752" y="1567855"/>
            <a:ext cx="393192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Unless you set temperature=0 + do_sample=False at inference, the model samples from a probability distribution — not the argmax. Even a 95% probability token isn't sampled 5% of the time.</a:t>
            </a:r>
          </a:p>
        </p:txBody>
      </p:sp>
      <p:sp>
        <p:nvSpPr>
          <p:cNvPr id="224" name="Text 18"/>
          <p:cNvSpPr txBox="1"/>
          <p:nvPr/>
        </p:nvSpPr>
        <p:spPr>
          <a:xfrm>
            <a:off x="4873752" y="2112308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Hardware non-determinism:</a:t>
            </a:r>
          </a:p>
        </p:txBody>
      </p:sp>
      <p:sp>
        <p:nvSpPr>
          <p:cNvPr id="225" name="Text 19"/>
          <p:cNvSpPr txBox="1"/>
          <p:nvPr/>
        </p:nvSpPr>
        <p:spPr>
          <a:xfrm>
            <a:off x="4873752" y="2317663"/>
            <a:ext cx="393192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Floating-point operations on GPUs are not fully deterministic across runs, hardware revisions, or multi-GPU setups. Tiny numerical differences can cascade into different token choices at low-probability positions.</a:t>
            </a:r>
          </a:p>
        </p:txBody>
      </p:sp>
      <p:sp>
        <p:nvSpPr>
          <p:cNvPr id="226" name="Text 20"/>
          <p:cNvSpPr txBox="1"/>
          <p:nvPr/>
        </p:nvSpPr>
        <p:spPr>
          <a:xfrm>
            <a:off x="4873752" y="2862116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Quantization rounding:</a:t>
            </a:r>
          </a:p>
        </p:txBody>
      </p:sp>
      <p:sp>
        <p:nvSpPr>
          <p:cNvPr id="227" name="Text 21"/>
          <p:cNvSpPr txBox="1"/>
          <p:nvPr/>
        </p:nvSpPr>
        <p:spPr>
          <a:xfrm>
            <a:off x="4873752" y="3067471"/>
            <a:ext cx="393192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QLoRA's 4-bit NF4 weights introduce quantization error. Dequantized values differ slightly from the original BF16 weights, which can shift token probabilities — especially near decision boundaries.</a:t>
            </a:r>
          </a:p>
        </p:txBody>
      </p:sp>
      <p:sp>
        <p:nvSpPr>
          <p:cNvPr id="228" name="Text 22"/>
          <p:cNvSpPr txBox="1"/>
          <p:nvPr/>
        </p:nvSpPr>
        <p:spPr>
          <a:xfrm>
            <a:off x="4873752" y="3611924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Out-of-distribution inputs:</a:t>
            </a:r>
          </a:p>
        </p:txBody>
      </p:sp>
      <p:sp>
        <p:nvSpPr>
          <p:cNvPr id="229" name="Text 23"/>
          <p:cNvSpPr txBox="1"/>
          <p:nvPr/>
        </p:nvSpPr>
        <p:spPr>
          <a:xfrm>
            <a:off x="4873752" y="3817279"/>
            <a:ext cx="393192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For novel spec combinations the model never saw in training, the probability distribution is still uncertain. These positions behave like a base model — variability returns. Fine-tuning only locks what it has seen.</a:t>
            </a:r>
          </a:p>
        </p:txBody>
      </p:sp>
      <p:sp>
        <p:nvSpPr>
          <p:cNvPr id="230" name="Shape 24"/>
          <p:cNvSpPr/>
          <p:nvPr/>
        </p:nvSpPr>
        <p:spPr>
          <a:xfrm>
            <a:off x="228600" y="4809744"/>
            <a:ext cx="8686800" cy="256033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25"/>
          <p:cNvSpPr txBox="1"/>
          <p:nvPr/>
        </p:nvSpPr>
        <p:spPr>
          <a:xfrm>
            <a:off x="365759" y="4810673"/>
            <a:ext cx="8412482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0D1B2A"/>
                </a:solidFill>
              </a:defRPr>
            </a:lvl1pPr>
          </a:lstStyle>
          <a:p>
            <a:pPr/>
            <a:r>
              <a:t>Closest to determinism: temperature=0 + do_sample=False at inference — but even then, multi-GPU math and quantization can introduce rare divergences. Treat fine-tuning as 'high-consistency', not 'bit-identical'.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When Fine-Tuning Alone Is Not Sufficient</a:t>
            </a:r>
          </a:p>
        </p:txBody>
      </p:sp>
      <p:sp>
        <p:nvSpPr>
          <p:cNvPr id="235" name="Text 2"/>
          <p:cNvSpPr txBox="1"/>
          <p:nvPr/>
        </p:nvSpPr>
        <p:spPr>
          <a:xfrm>
            <a:off x="365759" y="728394"/>
            <a:ext cx="8229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CBD5E1"/>
                </a:solidFill>
              </a:defRPr>
            </a:lvl1pPr>
          </a:lstStyle>
          <a:p>
            <a:pPr/>
            <a:r>
              <a:t>Understanding the boundaries — and the hybrid solution</a:t>
            </a:r>
          </a:p>
        </p:txBody>
      </p:sp>
      <p:sp>
        <p:nvSpPr>
          <p:cNvPr id="236" name="Shape 3"/>
          <p:cNvSpPr/>
          <p:nvPr/>
        </p:nvSpPr>
        <p:spPr>
          <a:xfrm>
            <a:off x="274320" y="1005839"/>
            <a:ext cx="8595360" cy="886968"/>
          </a:xfrm>
          <a:prstGeom prst="rect">
            <a:avLst/>
          </a:prstGeom>
          <a:solidFill>
            <a:srgbClr val="162232"/>
          </a:solidFill>
          <a:ln w="19050">
            <a:solidFill>
              <a:srgbClr val="E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hape 4"/>
          <p:cNvSpPr/>
          <p:nvPr/>
        </p:nvSpPr>
        <p:spPr>
          <a:xfrm>
            <a:off x="274320" y="1005839"/>
            <a:ext cx="64009" cy="886968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5"/>
          <p:cNvSpPr txBox="1"/>
          <p:nvPr/>
        </p:nvSpPr>
        <p:spPr>
          <a:xfrm>
            <a:off x="457200" y="1134370"/>
            <a:ext cx="3200400" cy="16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F4444"/>
                </a:solidFill>
              </a:defRPr>
            </a:lvl1pPr>
          </a:lstStyle>
          <a:p>
            <a:pPr/>
            <a:r>
              <a:t>✗  Novel / Unseen Logic</a:t>
            </a:r>
          </a:p>
        </p:txBody>
      </p:sp>
      <p:sp>
        <p:nvSpPr>
          <p:cNvPr id="239" name="Text 6"/>
          <p:cNvSpPr txBox="1"/>
          <p:nvPr/>
        </p:nvSpPr>
        <p:spPr>
          <a:xfrm>
            <a:off x="457199" y="1366564"/>
            <a:ext cx="484632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SFT memorizes patterns from training data. When a new input pattern has no training analog, the model extrapolates poorly — producing outputs that look structurally correct but contain wrong logic.</a:t>
            </a:r>
          </a:p>
        </p:txBody>
      </p:sp>
      <p:sp>
        <p:nvSpPr>
          <p:cNvPr id="240" name="Text 7"/>
          <p:cNvSpPr txBox="1"/>
          <p:nvPr/>
        </p:nvSpPr>
        <p:spPr>
          <a:xfrm>
            <a:off x="5486400" y="1330242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22C55E"/>
                </a:solidFill>
              </a:defRPr>
            </a:lvl1pPr>
          </a:lstStyle>
          <a:p>
            <a:pPr/>
            <a:r>
              <a:t>Fix: Route novel inputs to a frontier model (GPT-4o / Claude) for reasoning-based generation.</a:t>
            </a:r>
          </a:p>
        </p:txBody>
      </p:sp>
      <p:sp>
        <p:nvSpPr>
          <p:cNvPr id="241" name="Shape 8"/>
          <p:cNvSpPr/>
          <p:nvPr/>
        </p:nvSpPr>
        <p:spPr>
          <a:xfrm>
            <a:off x="5394960" y="1115567"/>
            <a:ext cx="1" cy="713233"/>
          </a:xfrm>
          <a:prstGeom prst="line">
            <a:avLst/>
          </a:prstGeom>
          <a:ln w="12700">
            <a:solidFill>
              <a:srgbClr val="1E31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9"/>
          <p:cNvSpPr/>
          <p:nvPr/>
        </p:nvSpPr>
        <p:spPr>
          <a:xfrm>
            <a:off x="274320" y="2011679"/>
            <a:ext cx="8595360" cy="886968"/>
          </a:xfrm>
          <a:prstGeom prst="rect">
            <a:avLst/>
          </a:prstGeom>
          <a:solidFill>
            <a:srgbClr val="162232"/>
          </a:solidFill>
          <a:ln w="190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Shape 10"/>
          <p:cNvSpPr/>
          <p:nvPr/>
        </p:nvSpPr>
        <p:spPr>
          <a:xfrm>
            <a:off x="274320" y="2011679"/>
            <a:ext cx="64009" cy="886968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11"/>
          <p:cNvSpPr txBox="1"/>
          <p:nvPr/>
        </p:nvSpPr>
        <p:spPr>
          <a:xfrm>
            <a:off x="457200" y="2140211"/>
            <a:ext cx="3200400" cy="16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9E0B"/>
                </a:solidFill>
              </a:defRPr>
            </a:lvl1pPr>
          </a:lstStyle>
          <a:p>
            <a:pPr/>
            <a:r>
              <a:t>✗  Non-Spec-Derivable Scaffolding</a:t>
            </a:r>
          </a:p>
        </p:txBody>
      </p:sp>
      <p:sp>
        <p:nvSpPr>
          <p:cNvPr id="245" name="Text 12"/>
          <p:cNvSpPr txBox="1"/>
          <p:nvPr/>
        </p:nvSpPr>
        <p:spPr>
          <a:xfrm>
            <a:off x="457199" y="2454954"/>
            <a:ext cx="48463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File headers, include directives, build configuration, and boilerplate infrastructure cannot be learned from spec/code pairs. There is no spec signal for these — they're pure convention.</a:t>
            </a:r>
          </a:p>
        </p:txBody>
      </p:sp>
      <p:sp>
        <p:nvSpPr>
          <p:cNvPr id="246" name="Text 13"/>
          <p:cNvSpPr txBox="1"/>
          <p:nvPr/>
        </p:nvSpPr>
        <p:spPr>
          <a:xfrm>
            <a:off x="5486400" y="2336082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22C55E"/>
                </a:solidFill>
              </a:defRPr>
            </a:lvl1pPr>
          </a:lstStyle>
          <a:p>
            <a:pPr/>
            <a:r>
              <a:t>Fix: Use manually curated template libraries for infrastructure code.</a:t>
            </a:r>
          </a:p>
        </p:txBody>
      </p:sp>
      <p:sp>
        <p:nvSpPr>
          <p:cNvPr id="247" name="Shape 14"/>
          <p:cNvSpPr/>
          <p:nvPr/>
        </p:nvSpPr>
        <p:spPr>
          <a:xfrm>
            <a:off x="5394960" y="2121407"/>
            <a:ext cx="1" cy="713233"/>
          </a:xfrm>
          <a:prstGeom prst="line">
            <a:avLst/>
          </a:prstGeom>
          <a:ln w="12700">
            <a:solidFill>
              <a:srgbClr val="1E31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Shape 15"/>
          <p:cNvSpPr/>
          <p:nvPr/>
        </p:nvSpPr>
        <p:spPr>
          <a:xfrm>
            <a:off x="274320" y="3017520"/>
            <a:ext cx="8595360" cy="886968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Shape 16"/>
          <p:cNvSpPr/>
          <p:nvPr/>
        </p:nvSpPr>
        <p:spPr>
          <a:xfrm>
            <a:off x="274320" y="3017520"/>
            <a:ext cx="64009" cy="886968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17"/>
          <p:cNvSpPr txBox="1"/>
          <p:nvPr/>
        </p:nvSpPr>
        <p:spPr>
          <a:xfrm>
            <a:off x="457200" y="3146050"/>
            <a:ext cx="3200400" cy="163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855F7"/>
                </a:solidFill>
              </a:defRPr>
            </a:lvl1pPr>
          </a:lstStyle>
          <a:p>
            <a:pPr/>
            <a:r>
              <a:t>✗  Narrow Data → Brittle Generalization</a:t>
            </a:r>
          </a:p>
        </p:txBody>
      </p:sp>
      <p:sp>
        <p:nvSpPr>
          <p:cNvPr id="251" name="Text 18"/>
          <p:cNvSpPr txBox="1"/>
          <p:nvPr/>
        </p:nvSpPr>
        <p:spPr>
          <a:xfrm>
            <a:off x="457199" y="3378244"/>
            <a:ext cx="484632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Fine-tuning on limited training pairs produces a pattern reproducer. Out-of-distribution specs — new attribute types, edge-case logic — break the model in ways that are hard to detect without validation layers.</a:t>
            </a:r>
          </a:p>
        </p:txBody>
      </p:sp>
      <p:sp>
        <p:nvSpPr>
          <p:cNvPr id="252" name="Text 19"/>
          <p:cNvSpPr txBox="1"/>
          <p:nvPr/>
        </p:nvSpPr>
        <p:spPr>
          <a:xfrm>
            <a:off x="5486400" y="3341922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22C55E"/>
                </a:solidFill>
              </a:defRPr>
            </a:lvl1pPr>
          </a:lstStyle>
          <a:p>
            <a:pPr/>
            <a:r>
              <a:t>Fix: Diagnostic benchmarks + held-out test sets + validation layers on every generated output.</a:t>
            </a:r>
          </a:p>
        </p:txBody>
      </p:sp>
      <p:sp>
        <p:nvSpPr>
          <p:cNvPr id="253" name="Shape 20"/>
          <p:cNvSpPr/>
          <p:nvPr/>
        </p:nvSpPr>
        <p:spPr>
          <a:xfrm>
            <a:off x="5394960" y="3127248"/>
            <a:ext cx="1" cy="713233"/>
          </a:xfrm>
          <a:prstGeom prst="line">
            <a:avLst/>
          </a:prstGeom>
          <a:ln w="12700">
            <a:solidFill>
              <a:srgbClr val="1E31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Shape 21"/>
          <p:cNvSpPr/>
          <p:nvPr/>
        </p:nvSpPr>
        <p:spPr>
          <a:xfrm>
            <a:off x="274320" y="4023359"/>
            <a:ext cx="8595360" cy="886968"/>
          </a:xfrm>
          <a:prstGeom prst="rect">
            <a:avLst/>
          </a:prstGeom>
          <a:solidFill>
            <a:srgbClr val="162232"/>
          </a:solidFill>
          <a:ln w="1905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Shape 22"/>
          <p:cNvSpPr/>
          <p:nvPr/>
        </p:nvSpPr>
        <p:spPr>
          <a:xfrm>
            <a:off x="274320" y="4023359"/>
            <a:ext cx="64009" cy="886968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23"/>
          <p:cNvSpPr txBox="1"/>
          <p:nvPr/>
        </p:nvSpPr>
        <p:spPr>
          <a:xfrm>
            <a:off x="457200" y="4151890"/>
            <a:ext cx="3200400" cy="16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0B4D8"/>
                </a:solidFill>
              </a:defRPr>
            </a:lvl1pPr>
          </a:lstStyle>
          <a:p>
            <a:pPr/>
            <a:r>
              <a:t>✗  Dynamic Context / Live Spec Retrieval</a:t>
            </a:r>
          </a:p>
        </p:txBody>
      </p:sp>
      <p:sp>
        <p:nvSpPr>
          <p:cNvPr id="257" name="Text 24"/>
          <p:cNvSpPr txBox="1"/>
          <p:nvPr/>
        </p:nvSpPr>
        <p:spPr>
          <a:xfrm>
            <a:off x="457199" y="4466634"/>
            <a:ext cx="48463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A fine-tuned model's knowledge is frozen at training time. It cannot look up the latest spec version, a specific attribute's current definition, or recently updated business rules.</a:t>
            </a:r>
          </a:p>
        </p:txBody>
      </p:sp>
      <p:sp>
        <p:nvSpPr>
          <p:cNvPr id="258" name="Text 25"/>
          <p:cNvSpPr txBox="1"/>
          <p:nvPr/>
        </p:nvSpPr>
        <p:spPr>
          <a:xfrm>
            <a:off x="5486400" y="4347762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22C55E"/>
                </a:solidFill>
              </a:defRPr>
            </a:lvl1pPr>
          </a:lstStyle>
          <a:p>
            <a:pPr/>
            <a:r>
              <a:t>Fix: RAG (Retrieval-Augmented Generation) over spec documents at inference time.</a:t>
            </a:r>
          </a:p>
        </p:txBody>
      </p:sp>
      <p:sp>
        <p:nvSpPr>
          <p:cNvPr id="259" name="Shape 26"/>
          <p:cNvSpPr/>
          <p:nvPr/>
        </p:nvSpPr>
        <p:spPr>
          <a:xfrm>
            <a:off x="5394960" y="4133087"/>
            <a:ext cx="1" cy="713233"/>
          </a:xfrm>
          <a:prstGeom prst="line">
            <a:avLst/>
          </a:prstGeom>
          <a:ln w="12700">
            <a:solidFill>
              <a:srgbClr val="1E3148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1"/>
          <p:cNvSpPr txBox="1"/>
          <p:nvPr/>
        </p:nvSpPr>
        <p:spPr>
          <a:xfrm>
            <a:off x="365759" y="182215"/>
            <a:ext cx="841248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Enterprise Use Cases — Where This Broadly Fits</a:t>
            </a:r>
          </a:p>
        </p:txBody>
      </p:sp>
      <p:sp>
        <p:nvSpPr>
          <p:cNvPr id="263" name="Shape 2"/>
          <p:cNvSpPr/>
          <p:nvPr/>
        </p:nvSpPr>
        <p:spPr>
          <a:xfrm>
            <a:off x="228600" y="749807"/>
            <a:ext cx="4251960" cy="422453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Shape 3"/>
          <p:cNvSpPr/>
          <p:nvPr/>
        </p:nvSpPr>
        <p:spPr>
          <a:xfrm>
            <a:off x="228600" y="749808"/>
            <a:ext cx="4251960" cy="73153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4"/>
          <p:cNvSpPr txBox="1"/>
          <p:nvPr/>
        </p:nvSpPr>
        <p:spPr>
          <a:xfrm>
            <a:off x="365759" y="967426"/>
            <a:ext cx="39776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0B4D8"/>
                </a:solidFill>
              </a:defRPr>
            </a:lvl1pPr>
          </a:lstStyle>
          <a:p>
            <a:pPr/>
            <a:r>
              <a:t>&lt;/&gt;  Text-to-Code</a:t>
            </a:r>
          </a:p>
        </p:txBody>
      </p:sp>
      <p:sp>
        <p:nvSpPr>
          <p:cNvPr id="266" name="Text 5"/>
          <p:cNvSpPr txBox="1"/>
          <p:nvPr/>
        </p:nvSpPr>
        <p:spPr>
          <a:xfrm>
            <a:off x="365759" y="1297984"/>
            <a:ext cx="3977642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Converting human-readable specifications, requirements, or rules into executable code — following domain-specific conventions and architecture patterns.</a:t>
            </a:r>
          </a:p>
        </p:txBody>
      </p:sp>
      <p:sp>
        <p:nvSpPr>
          <p:cNvPr id="267" name="Shape 6"/>
          <p:cNvSpPr/>
          <p:nvPr/>
        </p:nvSpPr>
        <p:spPr>
          <a:xfrm>
            <a:off x="365759" y="1828800"/>
            <a:ext cx="3977642" cy="27432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hape 7"/>
          <p:cNvSpPr/>
          <p:nvPr/>
        </p:nvSpPr>
        <p:spPr>
          <a:xfrm>
            <a:off x="365759" y="1920239"/>
            <a:ext cx="3977642" cy="868681"/>
          </a:xfrm>
          <a:prstGeom prst="rect">
            <a:avLst/>
          </a:prstGeom>
          <a:solidFill>
            <a:srgbClr val="F8FAFC"/>
          </a:solidFill>
          <a:ln w="6350">
            <a:solidFill>
              <a:srgbClr val="00B4D8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8"/>
          <p:cNvSpPr txBox="1"/>
          <p:nvPr/>
        </p:nvSpPr>
        <p:spPr>
          <a:xfrm>
            <a:off x="484631" y="2045130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Spec-to-Code</a:t>
            </a:r>
          </a:p>
        </p:txBody>
      </p:sp>
      <p:sp>
        <p:nvSpPr>
          <p:cNvPr id="270" name="Shape 9"/>
          <p:cNvSpPr/>
          <p:nvPr/>
        </p:nvSpPr>
        <p:spPr>
          <a:xfrm>
            <a:off x="2606039" y="2011679"/>
            <a:ext cx="1554481" cy="201169"/>
          </a:xfrm>
          <a:prstGeom prst="roundRect">
            <a:avLst>
              <a:gd name="adj" fmla="val 18182"/>
            </a:avLst>
          </a:prstGeom>
          <a:solidFill>
            <a:srgbClr val="00B4D8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10"/>
          <p:cNvSpPr txBox="1"/>
          <p:nvPr/>
        </p:nvSpPr>
        <p:spPr>
          <a:xfrm>
            <a:off x="2606039" y="2048763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0D1B2A"/>
                </a:solidFill>
              </a:defRPr>
            </a:lvl1pPr>
          </a:lstStyle>
          <a:p>
            <a:pPr/>
            <a:r>
              <a:t>Attribute Builder</a:t>
            </a:r>
          </a:p>
        </p:txBody>
      </p:sp>
      <p:sp>
        <p:nvSpPr>
          <p:cNvPr id="272" name="Text 11"/>
          <p:cNvSpPr txBox="1"/>
          <p:nvPr/>
        </p:nvSpPr>
        <p:spPr>
          <a:xfrm>
            <a:off x="484631" y="2369225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Word spec documents → legacy C code following strict internal conventions. Fine-tuned Qwen 2.5 Coder 32B on attribute-level spec/code pairs.</a:t>
            </a:r>
          </a:p>
        </p:txBody>
      </p:sp>
      <p:sp>
        <p:nvSpPr>
          <p:cNvPr id="273" name="Shape 12"/>
          <p:cNvSpPr/>
          <p:nvPr/>
        </p:nvSpPr>
        <p:spPr>
          <a:xfrm>
            <a:off x="365759" y="2907792"/>
            <a:ext cx="3977642" cy="868681"/>
          </a:xfrm>
          <a:prstGeom prst="rect">
            <a:avLst/>
          </a:prstGeom>
          <a:solidFill>
            <a:srgbClr val="F8FAFC"/>
          </a:solidFill>
          <a:ln w="6350">
            <a:solidFill>
              <a:srgbClr val="00B4D8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13"/>
          <p:cNvSpPr txBox="1"/>
          <p:nvPr/>
        </p:nvSpPr>
        <p:spPr>
          <a:xfrm>
            <a:off x="484631" y="3032682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Config Generation</a:t>
            </a:r>
          </a:p>
        </p:txBody>
      </p:sp>
      <p:sp>
        <p:nvSpPr>
          <p:cNvPr id="275" name="Shape 14"/>
          <p:cNvSpPr/>
          <p:nvPr/>
        </p:nvSpPr>
        <p:spPr>
          <a:xfrm>
            <a:off x="2606039" y="2999232"/>
            <a:ext cx="1554481" cy="201169"/>
          </a:xfrm>
          <a:prstGeom prst="roundRect">
            <a:avLst>
              <a:gd name="adj" fmla="val 18182"/>
            </a:avLst>
          </a:prstGeom>
          <a:solidFill>
            <a:srgbClr val="00B4D8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15"/>
          <p:cNvSpPr txBox="1"/>
          <p:nvPr/>
        </p:nvSpPr>
        <p:spPr>
          <a:xfrm>
            <a:off x="2606039" y="3036316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0D1B2A"/>
                </a:solidFill>
              </a:defRPr>
            </a:lvl1pPr>
          </a:lstStyle>
          <a:p>
            <a:pPr/>
            <a:r>
              <a:t>Rule Engine</a:t>
            </a:r>
          </a:p>
        </p:txBody>
      </p:sp>
      <p:sp>
        <p:nvSpPr>
          <p:cNvPr id="277" name="Text 16"/>
          <p:cNvSpPr txBox="1"/>
          <p:nvPr/>
        </p:nvSpPr>
        <p:spPr>
          <a:xfrm>
            <a:off x="484631" y="3356777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Business rules expressed in natural language → executable rule engine config. Pattern-heavy, high-volume — ideal for fine-tuning.</a:t>
            </a:r>
          </a:p>
        </p:txBody>
      </p:sp>
      <p:sp>
        <p:nvSpPr>
          <p:cNvPr id="278" name="Shape 17"/>
          <p:cNvSpPr/>
          <p:nvPr/>
        </p:nvSpPr>
        <p:spPr>
          <a:xfrm>
            <a:off x="365759" y="3895344"/>
            <a:ext cx="3977642" cy="868681"/>
          </a:xfrm>
          <a:prstGeom prst="rect">
            <a:avLst/>
          </a:prstGeom>
          <a:solidFill>
            <a:srgbClr val="F8FAFC"/>
          </a:solidFill>
          <a:ln w="6350">
            <a:solidFill>
              <a:srgbClr val="00B4D8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18"/>
          <p:cNvSpPr txBox="1"/>
          <p:nvPr/>
        </p:nvSpPr>
        <p:spPr>
          <a:xfrm>
            <a:off x="484631" y="4020234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Schema-to-ORM</a:t>
            </a:r>
          </a:p>
        </p:txBody>
      </p:sp>
      <p:sp>
        <p:nvSpPr>
          <p:cNvPr id="280" name="Shape 19"/>
          <p:cNvSpPr/>
          <p:nvPr/>
        </p:nvSpPr>
        <p:spPr>
          <a:xfrm>
            <a:off x="2606039" y="3986784"/>
            <a:ext cx="1554481" cy="201169"/>
          </a:xfrm>
          <a:prstGeom prst="roundRect">
            <a:avLst>
              <a:gd name="adj" fmla="val 18182"/>
            </a:avLst>
          </a:prstGeom>
          <a:solidFill>
            <a:srgbClr val="00B4D8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20"/>
          <p:cNvSpPr txBox="1"/>
          <p:nvPr/>
        </p:nvSpPr>
        <p:spPr>
          <a:xfrm>
            <a:off x="2606039" y="4023868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0D1B2A"/>
                </a:solidFill>
              </a:defRPr>
            </a:lvl1pPr>
          </a:lstStyle>
          <a:p>
            <a:pPr/>
            <a:r>
              <a:t>Database Layer</a:t>
            </a:r>
          </a:p>
        </p:txBody>
      </p:sp>
      <p:sp>
        <p:nvSpPr>
          <p:cNvPr id="282" name="Text 21"/>
          <p:cNvSpPr txBox="1"/>
          <p:nvPr/>
        </p:nvSpPr>
        <p:spPr>
          <a:xfrm>
            <a:off x="484631" y="4344329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Database schema definitions → ORM model code. Predictable patterns with organization-specific naming conventions.</a:t>
            </a:r>
          </a:p>
        </p:txBody>
      </p:sp>
      <p:sp>
        <p:nvSpPr>
          <p:cNvPr id="283" name="Shape 22"/>
          <p:cNvSpPr/>
          <p:nvPr/>
        </p:nvSpPr>
        <p:spPr>
          <a:xfrm>
            <a:off x="4709159" y="749807"/>
            <a:ext cx="4251961" cy="422453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" name="Shape 23"/>
          <p:cNvSpPr/>
          <p:nvPr/>
        </p:nvSpPr>
        <p:spPr>
          <a:xfrm>
            <a:off x="4709159" y="749808"/>
            <a:ext cx="4251961" cy="73153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24"/>
          <p:cNvSpPr txBox="1"/>
          <p:nvPr/>
        </p:nvSpPr>
        <p:spPr>
          <a:xfrm>
            <a:off x="4846320" y="967426"/>
            <a:ext cx="3977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9E0B"/>
                </a:solidFill>
              </a:defRPr>
            </a:lvl1pPr>
          </a:lstStyle>
          <a:p>
            <a:pPr/>
            <a:r>
              <a:t>{}  Text (Semi-Structured) to Config</a:t>
            </a:r>
          </a:p>
        </p:txBody>
      </p:sp>
      <p:sp>
        <p:nvSpPr>
          <p:cNvPr id="286" name="Text 25"/>
          <p:cNvSpPr txBox="1"/>
          <p:nvPr/>
        </p:nvSpPr>
        <p:spPr>
          <a:xfrm>
            <a:off x="4846320" y="1380534"/>
            <a:ext cx="397764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Transforming semi-structured text inputs — specs, solution designs, option sheets — into structured configuration files for downstream systems.</a:t>
            </a:r>
          </a:p>
        </p:txBody>
      </p:sp>
      <p:sp>
        <p:nvSpPr>
          <p:cNvPr id="287" name="Shape 26"/>
          <p:cNvSpPr/>
          <p:nvPr/>
        </p:nvSpPr>
        <p:spPr>
          <a:xfrm>
            <a:off x="4846320" y="1828800"/>
            <a:ext cx="3977641" cy="27432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Shape 27"/>
          <p:cNvSpPr/>
          <p:nvPr/>
        </p:nvSpPr>
        <p:spPr>
          <a:xfrm>
            <a:off x="4846320" y="1920239"/>
            <a:ext cx="3977641" cy="868681"/>
          </a:xfrm>
          <a:prstGeom prst="rect">
            <a:avLst/>
          </a:prstGeom>
          <a:solidFill>
            <a:srgbClr val="F8FAFC"/>
          </a:solidFill>
          <a:ln w="6350">
            <a:solidFill>
              <a:srgbClr val="F59E0B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28"/>
          <p:cNvSpPr txBox="1"/>
          <p:nvPr/>
        </p:nvSpPr>
        <p:spPr>
          <a:xfrm>
            <a:off x="4965191" y="2045130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OSL-to-Config</a:t>
            </a:r>
          </a:p>
        </p:txBody>
      </p:sp>
      <p:sp>
        <p:nvSpPr>
          <p:cNvPr id="290" name="Shape 29"/>
          <p:cNvSpPr/>
          <p:nvPr/>
        </p:nvSpPr>
        <p:spPr>
          <a:xfrm>
            <a:off x="7086600" y="2011679"/>
            <a:ext cx="1554481" cy="201169"/>
          </a:xfrm>
          <a:prstGeom prst="roundRect">
            <a:avLst>
              <a:gd name="adj" fmla="val 18182"/>
            </a:avLst>
          </a:prstGeom>
          <a:solidFill>
            <a:srgbClr val="F59E0B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30"/>
          <p:cNvSpPr txBox="1"/>
          <p:nvPr/>
        </p:nvSpPr>
        <p:spPr>
          <a:xfrm>
            <a:off x="7086600" y="2048763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0D1B2A"/>
                </a:solidFill>
              </a:defRPr>
            </a:lvl1pPr>
          </a:lstStyle>
          <a:p>
            <a:pPr/>
            <a:r>
              <a:t>Solution Canvas</a:t>
            </a:r>
          </a:p>
        </p:txBody>
      </p:sp>
      <p:sp>
        <p:nvSpPr>
          <p:cNvPr id="292" name="Text 31"/>
          <p:cNvSpPr txBox="1"/>
          <p:nvPr/>
        </p:nvSpPr>
        <p:spPr>
          <a:xfrm>
            <a:off x="4965191" y="2369225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Option sheet language documents → structured system configuration. Semi-structured input with rigid output schema.</a:t>
            </a:r>
          </a:p>
        </p:txBody>
      </p:sp>
      <p:sp>
        <p:nvSpPr>
          <p:cNvPr id="293" name="Shape 32"/>
          <p:cNvSpPr/>
          <p:nvPr/>
        </p:nvSpPr>
        <p:spPr>
          <a:xfrm>
            <a:off x="4846320" y="2907792"/>
            <a:ext cx="3977641" cy="868681"/>
          </a:xfrm>
          <a:prstGeom prst="rect">
            <a:avLst/>
          </a:prstGeom>
          <a:solidFill>
            <a:srgbClr val="F8FAFC"/>
          </a:solidFill>
          <a:ln w="6350">
            <a:solidFill>
              <a:srgbClr val="F59E0B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33"/>
          <p:cNvSpPr txBox="1"/>
          <p:nvPr/>
        </p:nvSpPr>
        <p:spPr>
          <a:xfrm>
            <a:off x="4965191" y="3032682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Policy-to-Config</a:t>
            </a:r>
          </a:p>
        </p:txBody>
      </p:sp>
      <p:sp>
        <p:nvSpPr>
          <p:cNvPr id="295" name="Shape 34"/>
          <p:cNvSpPr/>
          <p:nvPr/>
        </p:nvSpPr>
        <p:spPr>
          <a:xfrm>
            <a:off x="7086600" y="2999232"/>
            <a:ext cx="1554481" cy="201169"/>
          </a:xfrm>
          <a:prstGeom prst="roundRect">
            <a:avLst>
              <a:gd name="adj" fmla="val 18182"/>
            </a:avLst>
          </a:prstGeom>
          <a:solidFill>
            <a:srgbClr val="F59E0B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35"/>
          <p:cNvSpPr txBox="1"/>
          <p:nvPr/>
        </p:nvSpPr>
        <p:spPr>
          <a:xfrm>
            <a:off x="7086600" y="3036316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0D1B2A"/>
                </a:solidFill>
              </a:defRPr>
            </a:lvl1pPr>
          </a:lstStyle>
          <a:p>
            <a:pPr/>
            <a:r>
              <a:t>Compliance Engine</a:t>
            </a:r>
          </a:p>
        </p:txBody>
      </p:sp>
      <p:sp>
        <p:nvSpPr>
          <p:cNvPr id="297" name="Text 36"/>
          <p:cNvSpPr txBox="1"/>
          <p:nvPr/>
        </p:nvSpPr>
        <p:spPr>
          <a:xfrm>
            <a:off x="4965191" y="3356777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Regulatory policy text → compliance system configuration parameters. Reduces manual translation risk in regulated environments.</a:t>
            </a:r>
          </a:p>
        </p:txBody>
      </p:sp>
      <p:sp>
        <p:nvSpPr>
          <p:cNvPr id="298" name="Shape 37"/>
          <p:cNvSpPr/>
          <p:nvPr/>
        </p:nvSpPr>
        <p:spPr>
          <a:xfrm>
            <a:off x="4846320" y="3895344"/>
            <a:ext cx="3977641" cy="868681"/>
          </a:xfrm>
          <a:prstGeom prst="rect">
            <a:avLst/>
          </a:prstGeom>
          <a:solidFill>
            <a:srgbClr val="F8FAFC"/>
          </a:solidFill>
          <a:ln w="6350">
            <a:solidFill>
              <a:srgbClr val="F59E0B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38"/>
          <p:cNvSpPr txBox="1"/>
          <p:nvPr/>
        </p:nvSpPr>
        <p:spPr>
          <a:xfrm>
            <a:off x="4965191" y="4020234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Design-to-Infra</a:t>
            </a:r>
          </a:p>
        </p:txBody>
      </p:sp>
      <p:sp>
        <p:nvSpPr>
          <p:cNvPr id="300" name="Shape 39"/>
          <p:cNvSpPr/>
          <p:nvPr/>
        </p:nvSpPr>
        <p:spPr>
          <a:xfrm>
            <a:off x="7086600" y="3986784"/>
            <a:ext cx="1554481" cy="201169"/>
          </a:xfrm>
          <a:prstGeom prst="roundRect">
            <a:avLst>
              <a:gd name="adj" fmla="val 18182"/>
            </a:avLst>
          </a:prstGeom>
          <a:solidFill>
            <a:srgbClr val="F59E0B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40"/>
          <p:cNvSpPr txBox="1"/>
          <p:nvPr/>
        </p:nvSpPr>
        <p:spPr>
          <a:xfrm>
            <a:off x="7086600" y="4023868"/>
            <a:ext cx="155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0D1B2A"/>
                </a:solidFill>
              </a:defRPr>
            </a:lvl1pPr>
          </a:lstStyle>
          <a:p>
            <a:pPr/>
            <a:r>
              <a:t>IaC Generation</a:t>
            </a:r>
          </a:p>
        </p:txBody>
      </p:sp>
      <p:sp>
        <p:nvSpPr>
          <p:cNvPr id="302" name="Text 41"/>
          <p:cNvSpPr txBox="1"/>
          <p:nvPr/>
        </p:nvSpPr>
        <p:spPr>
          <a:xfrm>
            <a:off x="4965191" y="4344329"/>
            <a:ext cx="3730754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Architecture design documents → Infrastructure-as-Code (Terraform, Kubernetes). Pattern-heavy, organization-specific naming.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1"/>
          <p:cNvSpPr txBox="1"/>
          <p:nvPr/>
        </p:nvSpPr>
        <p:spPr>
          <a:xfrm>
            <a:off x="365759" y="182215"/>
            <a:ext cx="841248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D1B2A"/>
                </a:solidFill>
              </a:defRPr>
            </a:lvl1pPr>
          </a:lstStyle>
          <a:p>
            <a:pPr/>
            <a:r>
              <a:t>Approach &amp; Design Considerations</a:t>
            </a:r>
          </a:p>
        </p:txBody>
      </p:sp>
      <p:sp>
        <p:nvSpPr>
          <p:cNvPr id="306" name="Shape 2"/>
          <p:cNvSpPr/>
          <p:nvPr/>
        </p:nvSpPr>
        <p:spPr>
          <a:xfrm>
            <a:off x="228600" y="777240"/>
            <a:ext cx="4251960" cy="2011679"/>
          </a:xfrm>
          <a:prstGeom prst="rect">
            <a:avLst/>
          </a:prstGeom>
          <a:solidFill>
            <a:srgbClr val="162232"/>
          </a:solidFill>
          <a:ln w="19050">
            <a:solidFill>
              <a:srgbClr val="00B4D8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Shape 3"/>
          <p:cNvSpPr/>
          <p:nvPr/>
        </p:nvSpPr>
        <p:spPr>
          <a:xfrm>
            <a:off x="228600" y="777240"/>
            <a:ext cx="4251960" cy="64009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4"/>
          <p:cNvSpPr txBox="1"/>
          <p:nvPr/>
        </p:nvSpPr>
        <p:spPr>
          <a:xfrm>
            <a:off x="365759" y="959035"/>
            <a:ext cx="39776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0B4D8"/>
                </a:solidFill>
              </a:defRPr>
            </a:lvl1pPr>
          </a:lstStyle>
          <a:p>
            <a:pPr/>
            <a:r>
              <a:t>Validation Layers</a:t>
            </a:r>
          </a:p>
        </p:txBody>
      </p:sp>
      <p:sp>
        <p:nvSpPr>
          <p:cNvPr id="309" name="Text 5"/>
          <p:cNvSpPr txBox="1"/>
          <p:nvPr/>
        </p:nvSpPr>
        <p:spPr>
          <a:xfrm>
            <a:off x="393191" y="1362500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Diagnostic benchmark: FT-7B vs Base-32B vs FT-32B on held-out sets</a:t>
            </a:r>
          </a:p>
        </p:txBody>
      </p:sp>
      <p:sp>
        <p:nvSpPr>
          <p:cNvPr id="310" name="Text 6"/>
          <p:cNvSpPr txBox="1"/>
          <p:nvPr/>
        </p:nvSpPr>
        <p:spPr>
          <a:xfrm>
            <a:off x="393191" y="1709972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MultiPL-E / EvalPlus / LiveCodeBench for C-specific code quality</a:t>
            </a:r>
          </a:p>
        </p:txBody>
      </p:sp>
      <p:sp>
        <p:nvSpPr>
          <p:cNvPr id="311" name="Text 7"/>
          <p:cNvSpPr txBox="1"/>
          <p:nvPr/>
        </p:nvSpPr>
        <p:spPr>
          <a:xfrm>
            <a:off x="393191" y="2057444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Isolate root cause: base capacity issue vs fine-tuning effectiveness</a:t>
            </a:r>
          </a:p>
        </p:txBody>
      </p:sp>
      <p:sp>
        <p:nvSpPr>
          <p:cNvPr id="312" name="Text 8"/>
          <p:cNvSpPr txBox="1"/>
          <p:nvPr/>
        </p:nvSpPr>
        <p:spPr>
          <a:xfrm>
            <a:off x="393191" y="2404916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Output validation pipeline on every generated artifact</a:t>
            </a:r>
          </a:p>
        </p:txBody>
      </p:sp>
      <p:sp>
        <p:nvSpPr>
          <p:cNvPr id="313" name="Shape 9"/>
          <p:cNvSpPr/>
          <p:nvPr/>
        </p:nvSpPr>
        <p:spPr>
          <a:xfrm>
            <a:off x="4663440" y="777240"/>
            <a:ext cx="4251960" cy="2011679"/>
          </a:xfrm>
          <a:prstGeom prst="rect">
            <a:avLst/>
          </a:prstGeom>
          <a:solidFill>
            <a:srgbClr val="162232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" name="Shape 10"/>
          <p:cNvSpPr/>
          <p:nvPr/>
        </p:nvSpPr>
        <p:spPr>
          <a:xfrm>
            <a:off x="4663440" y="777240"/>
            <a:ext cx="4251960" cy="64009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11"/>
          <p:cNvSpPr txBox="1"/>
          <p:nvPr/>
        </p:nvSpPr>
        <p:spPr>
          <a:xfrm>
            <a:off x="4800600" y="959035"/>
            <a:ext cx="39776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59E0B"/>
                </a:solidFill>
              </a:defRPr>
            </a:lvl1pPr>
          </a:lstStyle>
          <a:p>
            <a:pPr/>
            <a:r>
              <a:t>Generalizability Strategy</a:t>
            </a:r>
          </a:p>
        </p:txBody>
      </p:sp>
      <p:sp>
        <p:nvSpPr>
          <p:cNvPr id="316" name="Text 12"/>
          <p:cNvSpPr txBox="1"/>
          <p:nvPr/>
        </p:nvSpPr>
        <p:spPr>
          <a:xfrm>
            <a:off x="4828032" y="1362500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SFT memorizes — hybrid architecture required for robustness</a:t>
            </a:r>
          </a:p>
        </p:txBody>
      </p:sp>
      <p:sp>
        <p:nvSpPr>
          <p:cNvPr id="317" name="Text 13"/>
          <p:cNvSpPr txBox="1"/>
          <p:nvPr/>
        </p:nvSpPr>
        <p:spPr>
          <a:xfrm>
            <a:off x="4828032" y="1709972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RAG over spec docs for attribute-specific context at inference</a:t>
            </a:r>
          </a:p>
        </p:txBody>
      </p:sp>
      <p:sp>
        <p:nvSpPr>
          <p:cNvPr id="318" name="Text 14"/>
          <p:cNvSpPr txBox="1"/>
          <p:nvPr/>
        </p:nvSpPr>
        <p:spPr>
          <a:xfrm>
            <a:off x="4828032" y="2057444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Frontier models for novel / out-of-distribution business logic</a:t>
            </a:r>
          </a:p>
        </p:txBody>
      </p:sp>
      <p:sp>
        <p:nvSpPr>
          <p:cNvPr id="319" name="Text 15"/>
          <p:cNvSpPr txBox="1"/>
          <p:nvPr/>
        </p:nvSpPr>
        <p:spPr>
          <a:xfrm>
            <a:off x="4828032" y="2404916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C code conventions always in system prompt (never left implicit)</a:t>
            </a:r>
          </a:p>
        </p:txBody>
      </p:sp>
      <p:sp>
        <p:nvSpPr>
          <p:cNvPr id="320" name="Shape 16"/>
          <p:cNvSpPr/>
          <p:nvPr/>
        </p:nvSpPr>
        <p:spPr>
          <a:xfrm>
            <a:off x="228600" y="2926079"/>
            <a:ext cx="4251960" cy="2011680"/>
          </a:xfrm>
          <a:prstGeom prst="rect">
            <a:avLst/>
          </a:prstGeom>
          <a:solidFill>
            <a:srgbClr val="162232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" name="Shape 17"/>
          <p:cNvSpPr/>
          <p:nvPr/>
        </p:nvSpPr>
        <p:spPr>
          <a:xfrm>
            <a:off x="228600" y="2926079"/>
            <a:ext cx="4251960" cy="64009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8"/>
          <p:cNvSpPr txBox="1"/>
          <p:nvPr/>
        </p:nvSpPr>
        <p:spPr>
          <a:xfrm>
            <a:off x="365759" y="3107875"/>
            <a:ext cx="39776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2C55E"/>
                </a:solidFill>
              </a:defRPr>
            </a:lvl1pPr>
          </a:lstStyle>
          <a:p>
            <a:pPr/>
            <a:r>
              <a:t>Cost Optimality</a:t>
            </a:r>
          </a:p>
        </p:txBody>
      </p:sp>
      <p:sp>
        <p:nvSpPr>
          <p:cNvPr id="323" name="Text 19"/>
          <p:cNvSpPr txBox="1"/>
          <p:nvPr/>
        </p:nvSpPr>
        <p:spPr>
          <a:xfrm>
            <a:off x="393191" y="3511340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QLoRA: 32B fine-tuning on a single A100/H100 (~25GB VRAM)</a:t>
            </a:r>
          </a:p>
        </p:txBody>
      </p:sp>
      <p:sp>
        <p:nvSpPr>
          <p:cNvPr id="324" name="Text 20"/>
          <p:cNvSpPr txBox="1"/>
          <p:nvPr/>
        </p:nvSpPr>
        <p:spPr>
          <a:xfrm>
            <a:off x="393191" y="3858812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vLLM + prefix caching for batched large-file generation</a:t>
            </a:r>
          </a:p>
        </p:txBody>
      </p:sp>
      <p:sp>
        <p:nvSpPr>
          <p:cNvPr id="325" name="Text 21"/>
          <p:cNvSpPr txBox="1"/>
          <p:nvPr/>
        </p:nvSpPr>
        <p:spPr>
          <a:xfrm>
            <a:off x="393191" y="4206284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7-stage inference pipeline for 35K-line outputs</a:t>
            </a:r>
          </a:p>
        </p:txBody>
      </p:sp>
      <p:sp>
        <p:nvSpPr>
          <p:cNvPr id="326" name="Text 22"/>
          <p:cNvSpPr txBox="1"/>
          <p:nvPr/>
        </p:nvSpPr>
        <p:spPr>
          <a:xfrm>
            <a:off x="393191" y="4553756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Fine-tuned local model: 10–100x cheaper than frontier API at scale</a:t>
            </a:r>
          </a:p>
        </p:txBody>
      </p:sp>
      <p:sp>
        <p:nvSpPr>
          <p:cNvPr id="327" name="Shape 23"/>
          <p:cNvSpPr/>
          <p:nvPr/>
        </p:nvSpPr>
        <p:spPr>
          <a:xfrm>
            <a:off x="4663440" y="2926079"/>
            <a:ext cx="4251960" cy="2011680"/>
          </a:xfrm>
          <a:prstGeom prst="rect">
            <a:avLst/>
          </a:prstGeom>
          <a:solidFill>
            <a:srgbClr val="162232"/>
          </a:solidFill>
          <a:ln w="19050">
            <a:solidFill>
              <a:srgbClr val="A855F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" name="Shape 24"/>
          <p:cNvSpPr/>
          <p:nvPr/>
        </p:nvSpPr>
        <p:spPr>
          <a:xfrm>
            <a:off x="4663440" y="2926079"/>
            <a:ext cx="4251960" cy="64009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ext 25"/>
          <p:cNvSpPr txBox="1"/>
          <p:nvPr/>
        </p:nvSpPr>
        <p:spPr>
          <a:xfrm>
            <a:off x="4800600" y="3107875"/>
            <a:ext cx="39776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A855F7"/>
                </a:solidFill>
              </a:defRPr>
            </a:lvl1pPr>
          </a:lstStyle>
          <a:p>
            <a:pPr/>
            <a:r>
              <a:t>Progress &amp; Active Work</a:t>
            </a:r>
          </a:p>
        </p:txBody>
      </p:sp>
      <p:sp>
        <p:nvSpPr>
          <p:cNvPr id="330" name="Text 26"/>
          <p:cNvSpPr txBox="1"/>
          <p:nvPr/>
        </p:nvSpPr>
        <p:spPr>
          <a:xfrm>
            <a:off x="4828032" y="3511340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7B model fine-tuned — underperforming baseline identified &amp; analysed</a:t>
            </a:r>
          </a:p>
        </p:txBody>
      </p:sp>
      <p:sp>
        <p:nvSpPr>
          <p:cNvPr id="331" name="Text 27"/>
          <p:cNvSpPr txBox="1"/>
          <p:nvPr/>
        </p:nvSpPr>
        <p:spPr>
          <a:xfrm>
            <a:off x="4828032" y="3858812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32B dense model selected, QLoRA config validated on target hardware</a:t>
            </a:r>
          </a:p>
        </p:txBody>
      </p:sp>
      <p:sp>
        <p:nvSpPr>
          <p:cNvPr id="332" name="Text 28"/>
          <p:cNvSpPr txBox="1"/>
          <p:nvPr/>
        </p:nvSpPr>
        <p:spPr>
          <a:xfrm>
            <a:off x="4828032" y="4206284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7-task-type training data decomposition strategy fully designed</a:t>
            </a:r>
          </a:p>
        </p:txBody>
      </p:sp>
      <p:sp>
        <p:nvSpPr>
          <p:cNvPr id="333" name="Text 29"/>
          <p:cNvSpPr txBox="1"/>
          <p:nvPr/>
        </p:nvSpPr>
        <p:spPr>
          <a:xfrm>
            <a:off x="4828032" y="4553756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·  Inference pipeline architecture (vLLM + RAG + templates) defined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1"/>
          <p:cNvSpPr txBox="1"/>
          <p:nvPr/>
        </p:nvSpPr>
        <p:spPr>
          <a:xfrm>
            <a:off x="365759" y="182215"/>
            <a:ext cx="841248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Key Learnings &amp; Challenges</a:t>
            </a:r>
          </a:p>
        </p:txBody>
      </p:sp>
      <p:sp>
        <p:nvSpPr>
          <p:cNvPr id="337" name="Shape 2"/>
          <p:cNvSpPr/>
          <p:nvPr/>
        </p:nvSpPr>
        <p:spPr>
          <a:xfrm>
            <a:off x="228600" y="777239"/>
            <a:ext cx="4251960" cy="1984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" name="Shape 3"/>
          <p:cNvSpPr/>
          <p:nvPr/>
        </p:nvSpPr>
        <p:spPr>
          <a:xfrm>
            <a:off x="365759" y="868680"/>
            <a:ext cx="1463041" cy="237745"/>
          </a:xfrm>
          <a:prstGeom prst="roundRect">
            <a:avLst>
              <a:gd name="adj" fmla="val 19231"/>
            </a:avLst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4"/>
          <p:cNvSpPr txBox="1"/>
          <p:nvPr/>
        </p:nvSpPr>
        <p:spPr>
          <a:xfrm>
            <a:off x="365759" y="924051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Architecture Insight</a:t>
            </a:r>
          </a:p>
        </p:txBody>
      </p:sp>
      <p:sp>
        <p:nvSpPr>
          <p:cNvPr id="340" name="Text 5"/>
          <p:cNvSpPr txBox="1"/>
          <p:nvPr/>
        </p:nvSpPr>
        <p:spPr>
          <a:xfrm>
            <a:off x="365759" y="1229105"/>
            <a:ext cx="39776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🧠  SFT Memorizes, Not Generalizes</a:t>
            </a:r>
          </a:p>
        </p:txBody>
      </p:sp>
      <p:sp>
        <p:nvSpPr>
          <p:cNvPr id="341" name="Text 6"/>
          <p:cNvSpPr txBox="1"/>
          <p:nvPr/>
        </p:nvSpPr>
        <p:spPr>
          <a:xfrm>
            <a:off x="365759" y="1896916"/>
            <a:ext cx="397764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A fine-tuned model on narrow domain data is a pattern reproducer. It excels at seen patterns, fails on novel combinations. A hybrid (FT + RAG + Frontier + Templates) is more robust than relying on SFT alone.</a:t>
            </a:r>
          </a:p>
        </p:txBody>
      </p:sp>
      <p:sp>
        <p:nvSpPr>
          <p:cNvPr id="342" name="Shape 7"/>
          <p:cNvSpPr/>
          <p:nvPr/>
        </p:nvSpPr>
        <p:spPr>
          <a:xfrm>
            <a:off x="4709159" y="777239"/>
            <a:ext cx="4251961" cy="198425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" name="Shape 8"/>
          <p:cNvSpPr/>
          <p:nvPr/>
        </p:nvSpPr>
        <p:spPr>
          <a:xfrm>
            <a:off x="4846320" y="868680"/>
            <a:ext cx="1463041" cy="237745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9"/>
          <p:cNvSpPr txBox="1"/>
          <p:nvPr/>
        </p:nvSpPr>
        <p:spPr>
          <a:xfrm>
            <a:off x="4846320" y="924051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Model Selection</a:t>
            </a:r>
          </a:p>
        </p:txBody>
      </p:sp>
      <p:sp>
        <p:nvSpPr>
          <p:cNvPr id="345" name="Text 10"/>
          <p:cNvSpPr txBox="1"/>
          <p:nvPr/>
        </p:nvSpPr>
        <p:spPr>
          <a:xfrm>
            <a:off x="4846320" y="1229105"/>
            <a:ext cx="39776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🚫  MoE Unsuitable for Narrow-Domain FT</a:t>
            </a:r>
          </a:p>
        </p:txBody>
      </p:sp>
      <p:sp>
        <p:nvSpPr>
          <p:cNvPr id="346" name="Text 11"/>
          <p:cNvSpPr txBox="1"/>
          <p:nvPr/>
        </p:nvSpPr>
        <p:spPr>
          <a:xfrm>
            <a:off x="4846320" y="1896916"/>
            <a:ext cx="397764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MoE architectures (Qwen 3 Coder 30B) introduce router instability and expert load collapse on narrow-domain data. Dense models (Qwen 2.5 Coder 32B) are better-behaved under QLoRA for domain-specific fine-tuning.</a:t>
            </a:r>
          </a:p>
        </p:txBody>
      </p:sp>
      <p:sp>
        <p:nvSpPr>
          <p:cNvPr id="347" name="Shape 12"/>
          <p:cNvSpPr/>
          <p:nvPr/>
        </p:nvSpPr>
        <p:spPr>
          <a:xfrm>
            <a:off x="228600" y="2898648"/>
            <a:ext cx="4251960" cy="1984249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" name="Shape 13"/>
          <p:cNvSpPr/>
          <p:nvPr/>
        </p:nvSpPr>
        <p:spPr>
          <a:xfrm>
            <a:off x="365759" y="2990088"/>
            <a:ext cx="1463041" cy="237745"/>
          </a:xfrm>
          <a:prstGeom prst="roundRect">
            <a:avLst>
              <a:gd name="adj" fmla="val 19231"/>
            </a:avLst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 14"/>
          <p:cNvSpPr txBox="1"/>
          <p:nvPr/>
        </p:nvSpPr>
        <p:spPr>
          <a:xfrm>
            <a:off x="365759" y="3045459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Training Data</a:t>
            </a:r>
          </a:p>
        </p:txBody>
      </p:sp>
      <p:sp>
        <p:nvSpPr>
          <p:cNvPr id="350" name="Text 15"/>
          <p:cNvSpPr txBox="1"/>
          <p:nvPr/>
        </p:nvSpPr>
        <p:spPr>
          <a:xfrm>
            <a:off x="365759" y="3350514"/>
            <a:ext cx="39776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📋  Conventions Must Live in System Prompt</a:t>
            </a:r>
          </a:p>
        </p:txBody>
      </p:sp>
      <p:sp>
        <p:nvSpPr>
          <p:cNvPr id="351" name="Text 16"/>
          <p:cNvSpPr txBox="1"/>
          <p:nvPr/>
        </p:nvSpPr>
        <p:spPr>
          <a:xfrm>
            <a:off x="365759" y="4018324"/>
            <a:ext cx="397764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Spec documents contain only business logic. Function naming, file structure, and code organization are implicit. These must be explicitly and consistently encoded in the system prompt across every training example.</a:t>
            </a:r>
          </a:p>
        </p:txBody>
      </p:sp>
      <p:sp>
        <p:nvSpPr>
          <p:cNvPr id="352" name="Shape 17"/>
          <p:cNvSpPr/>
          <p:nvPr/>
        </p:nvSpPr>
        <p:spPr>
          <a:xfrm>
            <a:off x="4709159" y="2898648"/>
            <a:ext cx="4251961" cy="1984249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" name="Shape 18"/>
          <p:cNvSpPr/>
          <p:nvPr/>
        </p:nvSpPr>
        <p:spPr>
          <a:xfrm>
            <a:off x="4846320" y="2990088"/>
            <a:ext cx="1463041" cy="237745"/>
          </a:xfrm>
          <a:prstGeom prst="roundRect">
            <a:avLst>
              <a:gd name="adj" fmla="val 19231"/>
            </a:avLst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19"/>
          <p:cNvSpPr txBox="1"/>
          <p:nvPr/>
        </p:nvSpPr>
        <p:spPr>
          <a:xfrm>
            <a:off x="4846320" y="3045459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Infrastructure</a:t>
            </a:r>
          </a:p>
        </p:txBody>
      </p:sp>
      <p:sp>
        <p:nvSpPr>
          <p:cNvPr id="355" name="Text 20"/>
          <p:cNvSpPr txBox="1"/>
          <p:nvPr/>
        </p:nvSpPr>
        <p:spPr>
          <a:xfrm>
            <a:off x="4846320" y="3350514"/>
            <a:ext cx="39776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⚡  QLoRA Makes 32B Fine-Tuning Accessible</a:t>
            </a:r>
          </a:p>
        </p:txBody>
      </p:sp>
      <p:sp>
        <p:nvSpPr>
          <p:cNvPr id="356" name="Text 21"/>
          <p:cNvSpPr txBox="1"/>
          <p:nvPr/>
        </p:nvSpPr>
        <p:spPr>
          <a:xfrm>
            <a:off x="4846320" y="4018324"/>
            <a:ext cx="397764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NF4 4-bit quantization + double quantization + BF16 compute dtype + paged optimizer reduces 32B fine-tuning from a multi-GPU, 200GB+ job to a single A100/H100 ~25GB workload. Three orthogonal ideas composing cleanly.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1"/>
          <p:cNvSpPr txBox="1"/>
          <p:nvPr/>
        </p:nvSpPr>
        <p:spPr>
          <a:xfrm>
            <a:off x="365759" y="182215"/>
            <a:ext cx="841248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D1B2A"/>
                </a:solidFill>
              </a:defRPr>
            </a:lvl1pPr>
          </a:lstStyle>
          <a:p>
            <a:pPr/>
            <a:r>
              <a:t>Timelines &amp; Next Steps</a:t>
            </a:r>
          </a:p>
        </p:txBody>
      </p:sp>
      <p:sp>
        <p:nvSpPr>
          <p:cNvPr id="360" name="Shape 2"/>
          <p:cNvSpPr/>
          <p:nvPr/>
        </p:nvSpPr>
        <p:spPr>
          <a:xfrm>
            <a:off x="777240" y="960119"/>
            <a:ext cx="7589519" cy="1"/>
          </a:xfrm>
          <a:prstGeom prst="line">
            <a:avLst/>
          </a:prstGeom>
          <a:ln w="25400">
            <a:solidFill>
              <a:srgbClr val="0077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Shape 3"/>
          <p:cNvSpPr/>
          <p:nvPr/>
        </p:nvSpPr>
        <p:spPr>
          <a:xfrm>
            <a:off x="822960" y="850391"/>
            <a:ext cx="201169" cy="201169"/>
          </a:xfrm>
          <a:prstGeom prst="ellipse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Shape 4"/>
          <p:cNvSpPr/>
          <p:nvPr/>
        </p:nvSpPr>
        <p:spPr>
          <a:xfrm>
            <a:off x="502919" y="1133855"/>
            <a:ext cx="1691641" cy="246889"/>
          </a:xfrm>
          <a:prstGeom prst="roundRect">
            <a:avLst>
              <a:gd name="adj" fmla="val 14815"/>
            </a:avLst>
          </a:prstGeom>
          <a:solidFill>
            <a:srgbClr val="22C55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5"/>
          <p:cNvSpPr txBox="1"/>
          <p:nvPr/>
        </p:nvSpPr>
        <p:spPr>
          <a:xfrm>
            <a:off x="502919" y="1193799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D1B2A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64" name="Text 6"/>
          <p:cNvSpPr txBox="1"/>
          <p:nvPr/>
        </p:nvSpPr>
        <p:spPr>
          <a:xfrm>
            <a:off x="365759" y="1505380"/>
            <a:ext cx="196596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22C55E"/>
                </a:solidFill>
              </a:defRPr>
            </a:pPr>
            <a:r>
              <a:t>Phase 1</a:t>
            </a:r>
          </a:p>
          <a:p>
            <a:pPr algn="ctr">
              <a:defRPr b="1" sz="1100">
                <a:solidFill>
                  <a:srgbClr val="22C55E"/>
                </a:solidFill>
              </a:defRPr>
            </a:pPr>
            <a:r>
              <a:t>Foundation</a:t>
            </a:r>
          </a:p>
        </p:txBody>
      </p:sp>
      <p:sp>
        <p:nvSpPr>
          <p:cNvPr id="365" name="Shape 7"/>
          <p:cNvSpPr/>
          <p:nvPr/>
        </p:nvSpPr>
        <p:spPr>
          <a:xfrm>
            <a:off x="365759" y="1965960"/>
            <a:ext cx="1965962" cy="2679193"/>
          </a:xfrm>
          <a:prstGeom prst="rect">
            <a:avLst/>
          </a:prstGeom>
          <a:solidFill>
            <a:srgbClr val="162232"/>
          </a:solidFill>
          <a:ln w="12700"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8"/>
          <p:cNvSpPr txBox="1"/>
          <p:nvPr/>
        </p:nvSpPr>
        <p:spPr>
          <a:xfrm>
            <a:off x="438912" y="2222921"/>
            <a:ext cx="181051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22C55E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7B model fine-tuned &amp; benchmarked</a:t>
            </a:r>
          </a:p>
        </p:txBody>
      </p:sp>
      <p:sp>
        <p:nvSpPr>
          <p:cNvPr id="367" name="Text 9"/>
          <p:cNvSpPr txBox="1"/>
          <p:nvPr/>
        </p:nvSpPr>
        <p:spPr>
          <a:xfrm>
            <a:off x="438912" y="2890011"/>
            <a:ext cx="18105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22C55E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QLoRA config validated on 32B</a:t>
            </a:r>
          </a:p>
        </p:txBody>
      </p:sp>
      <p:sp>
        <p:nvSpPr>
          <p:cNvPr id="368" name="Text 10"/>
          <p:cNvSpPr txBox="1"/>
          <p:nvPr/>
        </p:nvSpPr>
        <p:spPr>
          <a:xfrm>
            <a:off x="438912" y="3493516"/>
            <a:ext cx="18105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22C55E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7-task-type data strategy designed</a:t>
            </a:r>
          </a:p>
        </p:txBody>
      </p:sp>
      <p:sp>
        <p:nvSpPr>
          <p:cNvPr id="369" name="Text 11"/>
          <p:cNvSpPr txBox="1"/>
          <p:nvPr/>
        </p:nvSpPr>
        <p:spPr>
          <a:xfrm>
            <a:off x="438912" y="4033433"/>
            <a:ext cx="181051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22C55E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Post-processing pipeline built (struct→header)</a:t>
            </a:r>
          </a:p>
        </p:txBody>
      </p:sp>
      <p:sp>
        <p:nvSpPr>
          <p:cNvPr id="370" name="Shape 12"/>
          <p:cNvSpPr/>
          <p:nvPr/>
        </p:nvSpPr>
        <p:spPr>
          <a:xfrm>
            <a:off x="2999232" y="850391"/>
            <a:ext cx="201169" cy="201169"/>
          </a:xfrm>
          <a:prstGeom prst="ellipse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13"/>
          <p:cNvSpPr/>
          <p:nvPr/>
        </p:nvSpPr>
        <p:spPr>
          <a:xfrm>
            <a:off x="2679192" y="1133855"/>
            <a:ext cx="1691641" cy="246889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14"/>
          <p:cNvSpPr txBox="1"/>
          <p:nvPr/>
        </p:nvSpPr>
        <p:spPr>
          <a:xfrm>
            <a:off x="2679192" y="1193799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D1B2A"/>
                </a:solidFill>
              </a:defRPr>
            </a:lvl1pPr>
          </a:lstStyle>
          <a:p>
            <a:pPr/>
            <a:r>
              <a:t>ACTIVE</a:t>
            </a:r>
          </a:p>
        </p:txBody>
      </p:sp>
      <p:sp>
        <p:nvSpPr>
          <p:cNvPr id="373" name="Text 15"/>
          <p:cNvSpPr txBox="1"/>
          <p:nvPr/>
        </p:nvSpPr>
        <p:spPr>
          <a:xfrm>
            <a:off x="2542032" y="1505380"/>
            <a:ext cx="19659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Phase 2</a:t>
            </a:r>
          </a:p>
          <a:p>
            <a:pPr algn="ctr">
              <a:defRPr b="1" sz="1100">
                <a:solidFill>
                  <a:srgbClr val="F59E0B"/>
                </a:solidFill>
              </a:defRPr>
            </a:pPr>
            <a:r>
              <a:t>Scale-Up</a:t>
            </a:r>
          </a:p>
        </p:txBody>
      </p:sp>
      <p:sp>
        <p:nvSpPr>
          <p:cNvPr id="374" name="Shape 16"/>
          <p:cNvSpPr/>
          <p:nvPr/>
        </p:nvSpPr>
        <p:spPr>
          <a:xfrm>
            <a:off x="2542032" y="1965960"/>
            <a:ext cx="1965961" cy="2679193"/>
          </a:xfrm>
          <a:prstGeom prst="rect">
            <a:avLst/>
          </a:prstGeom>
          <a:solidFill>
            <a:srgbClr val="162232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17"/>
          <p:cNvSpPr txBox="1"/>
          <p:nvPr/>
        </p:nvSpPr>
        <p:spPr>
          <a:xfrm>
            <a:off x="2615183" y="2222921"/>
            <a:ext cx="18105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Diagnostic benchmark (7B vs 32B base vs 32B FT)</a:t>
            </a:r>
          </a:p>
        </p:txBody>
      </p:sp>
      <p:sp>
        <p:nvSpPr>
          <p:cNvPr id="376" name="Text 18"/>
          <p:cNvSpPr txBox="1"/>
          <p:nvPr/>
        </p:nvSpPr>
        <p:spPr>
          <a:xfrm>
            <a:off x="2615183" y="2890011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Full 32B QLoRA fine-tuning run</a:t>
            </a:r>
          </a:p>
        </p:txBody>
      </p:sp>
      <p:sp>
        <p:nvSpPr>
          <p:cNvPr id="377" name="Text 19"/>
          <p:cNvSpPr txBox="1"/>
          <p:nvPr/>
        </p:nvSpPr>
        <p:spPr>
          <a:xfrm>
            <a:off x="2615183" y="3493516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7-stage inference pipeline build-out</a:t>
            </a:r>
          </a:p>
        </p:txBody>
      </p:sp>
      <p:sp>
        <p:nvSpPr>
          <p:cNvPr id="378" name="Text 20"/>
          <p:cNvSpPr txBox="1"/>
          <p:nvPr/>
        </p:nvSpPr>
        <p:spPr>
          <a:xfrm>
            <a:off x="2615183" y="4097020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vLLM + prefix caching integration</a:t>
            </a:r>
          </a:p>
        </p:txBody>
      </p:sp>
      <p:sp>
        <p:nvSpPr>
          <p:cNvPr id="379" name="Shape 21"/>
          <p:cNvSpPr/>
          <p:nvPr/>
        </p:nvSpPr>
        <p:spPr>
          <a:xfrm>
            <a:off x="5175503" y="850391"/>
            <a:ext cx="201169" cy="201169"/>
          </a:xfrm>
          <a:prstGeom prst="ellipse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Shape 22"/>
          <p:cNvSpPr/>
          <p:nvPr/>
        </p:nvSpPr>
        <p:spPr>
          <a:xfrm>
            <a:off x="4855464" y="1133855"/>
            <a:ext cx="1691641" cy="246889"/>
          </a:xfrm>
          <a:prstGeom prst="roundRect">
            <a:avLst>
              <a:gd name="adj" fmla="val 14815"/>
            </a:avLst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23"/>
          <p:cNvSpPr txBox="1"/>
          <p:nvPr/>
        </p:nvSpPr>
        <p:spPr>
          <a:xfrm>
            <a:off x="4855464" y="1193799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D1B2A"/>
                </a:solidFill>
              </a:defRPr>
            </a:lvl1pPr>
          </a:lstStyle>
          <a:p>
            <a:pPr/>
            <a:r>
              <a:t>NEXT</a:t>
            </a:r>
          </a:p>
        </p:txBody>
      </p:sp>
      <p:sp>
        <p:nvSpPr>
          <p:cNvPr id="382" name="Text 24"/>
          <p:cNvSpPr txBox="1"/>
          <p:nvPr/>
        </p:nvSpPr>
        <p:spPr>
          <a:xfrm>
            <a:off x="4718303" y="1505380"/>
            <a:ext cx="19659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Phase 3</a:t>
            </a:r>
          </a:p>
          <a:p>
            <a:pPr algn="ctr">
              <a:defRPr b="1" sz="1100">
                <a:solidFill>
                  <a:srgbClr val="00B4D8"/>
                </a:solidFill>
              </a:defRPr>
            </a:pPr>
            <a:r>
              <a:t>Production</a:t>
            </a:r>
          </a:p>
        </p:txBody>
      </p:sp>
      <p:sp>
        <p:nvSpPr>
          <p:cNvPr id="383" name="Shape 25"/>
          <p:cNvSpPr/>
          <p:nvPr/>
        </p:nvSpPr>
        <p:spPr>
          <a:xfrm>
            <a:off x="4718303" y="1965960"/>
            <a:ext cx="1965961" cy="2679193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6"/>
          <p:cNvSpPr txBox="1"/>
          <p:nvPr/>
        </p:nvSpPr>
        <p:spPr>
          <a:xfrm>
            <a:off x="4791455" y="2222921"/>
            <a:ext cx="18105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00B4D8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RAG over spec docs (attribute injection)</a:t>
            </a:r>
          </a:p>
        </p:txBody>
      </p:sp>
      <p:sp>
        <p:nvSpPr>
          <p:cNvPr id="385" name="Text 27"/>
          <p:cNvSpPr txBox="1"/>
          <p:nvPr/>
        </p:nvSpPr>
        <p:spPr>
          <a:xfrm>
            <a:off x="4791455" y="2826425"/>
            <a:ext cx="18105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00B4D8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Frontier model integration for novel logic</a:t>
            </a:r>
          </a:p>
        </p:txBody>
      </p:sp>
      <p:sp>
        <p:nvSpPr>
          <p:cNvPr id="386" name="Text 28"/>
          <p:cNvSpPr txBox="1"/>
          <p:nvPr/>
        </p:nvSpPr>
        <p:spPr>
          <a:xfrm>
            <a:off x="4791455" y="3429929"/>
            <a:ext cx="1810513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00B4D8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Manual template library for scaffolding</a:t>
            </a:r>
          </a:p>
        </p:txBody>
      </p:sp>
      <p:sp>
        <p:nvSpPr>
          <p:cNvPr id="387" name="Text 29"/>
          <p:cNvSpPr txBox="1"/>
          <p:nvPr/>
        </p:nvSpPr>
        <p:spPr>
          <a:xfrm>
            <a:off x="4791455" y="4033433"/>
            <a:ext cx="18105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00B4D8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End-to-end Spec→C validation on EADS142</a:t>
            </a:r>
          </a:p>
        </p:txBody>
      </p:sp>
      <p:sp>
        <p:nvSpPr>
          <p:cNvPr id="388" name="Shape 30"/>
          <p:cNvSpPr/>
          <p:nvPr/>
        </p:nvSpPr>
        <p:spPr>
          <a:xfrm>
            <a:off x="7351776" y="850391"/>
            <a:ext cx="201169" cy="201169"/>
          </a:xfrm>
          <a:prstGeom prst="ellipse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Shape 31"/>
          <p:cNvSpPr/>
          <p:nvPr/>
        </p:nvSpPr>
        <p:spPr>
          <a:xfrm>
            <a:off x="7031735" y="1133855"/>
            <a:ext cx="1691641" cy="246889"/>
          </a:xfrm>
          <a:prstGeom prst="roundRect">
            <a:avLst>
              <a:gd name="adj" fmla="val 14815"/>
            </a:avLst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32"/>
          <p:cNvSpPr txBox="1"/>
          <p:nvPr/>
        </p:nvSpPr>
        <p:spPr>
          <a:xfrm>
            <a:off x="7031735" y="1193799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D1B2A"/>
                </a:solidFill>
              </a:defRPr>
            </a:lvl1pPr>
          </a:lstStyle>
          <a:p>
            <a:pPr/>
            <a:r>
              <a:t>HORIZON</a:t>
            </a:r>
          </a:p>
        </p:txBody>
      </p:sp>
      <p:sp>
        <p:nvSpPr>
          <p:cNvPr id="391" name="Text 33"/>
          <p:cNvSpPr txBox="1"/>
          <p:nvPr/>
        </p:nvSpPr>
        <p:spPr>
          <a:xfrm>
            <a:off x="6894576" y="1505380"/>
            <a:ext cx="19659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A855F7"/>
                </a:solidFill>
              </a:defRPr>
            </a:pPr>
            <a:r>
              <a:t>Phase 4</a:t>
            </a:r>
          </a:p>
          <a:p>
            <a:pPr algn="ctr">
              <a:defRPr b="1" sz="1100">
                <a:solidFill>
                  <a:srgbClr val="A855F7"/>
                </a:solidFill>
              </a:defRPr>
            </a:pPr>
            <a:r>
              <a:t>Expansion</a:t>
            </a:r>
          </a:p>
        </p:txBody>
      </p:sp>
      <p:sp>
        <p:nvSpPr>
          <p:cNvPr id="392" name="Shape 34"/>
          <p:cNvSpPr/>
          <p:nvPr/>
        </p:nvSpPr>
        <p:spPr>
          <a:xfrm>
            <a:off x="6894576" y="1965960"/>
            <a:ext cx="1965961" cy="2679193"/>
          </a:xfrm>
          <a:prstGeom prst="rect">
            <a:avLst/>
          </a:prstGeom>
          <a:solidFill>
            <a:srgbClr val="162232"/>
          </a:solidFill>
          <a:ln w="12700">
            <a:solidFill>
              <a:srgbClr val="A855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35"/>
          <p:cNvSpPr txBox="1"/>
          <p:nvPr/>
        </p:nvSpPr>
        <p:spPr>
          <a:xfrm>
            <a:off x="6967728" y="2286508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A855F7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OSL-to-Config (Solution Canvas)</a:t>
            </a:r>
          </a:p>
        </p:txBody>
      </p:sp>
      <p:sp>
        <p:nvSpPr>
          <p:cNvPr id="394" name="Text 36"/>
          <p:cNvSpPr txBox="1"/>
          <p:nvPr/>
        </p:nvSpPr>
        <p:spPr>
          <a:xfrm>
            <a:off x="6967728" y="2890011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A855F7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Multi-spec generalization testing</a:t>
            </a:r>
          </a:p>
        </p:txBody>
      </p:sp>
      <p:sp>
        <p:nvSpPr>
          <p:cNvPr id="395" name="Text 37"/>
          <p:cNvSpPr txBox="1"/>
          <p:nvPr/>
        </p:nvSpPr>
        <p:spPr>
          <a:xfrm>
            <a:off x="6967728" y="3429929"/>
            <a:ext cx="1810513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A855F7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Cost &amp; latency benchmarking at scale</a:t>
            </a:r>
          </a:p>
        </p:txBody>
      </p:sp>
      <p:sp>
        <p:nvSpPr>
          <p:cNvPr id="396" name="Text 38"/>
          <p:cNvSpPr txBox="1"/>
          <p:nvPr/>
        </p:nvSpPr>
        <p:spPr>
          <a:xfrm>
            <a:off x="6967728" y="4033433"/>
            <a:ext cx="18105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A855F7"/>
                </a:solidFill>
              </a:defRPr>
            </a:pPr>
            <a:r>
              <a:t>→  </a:t>
            </a:r>
            <a:r>
              <a:rPr b="0">
                <a:solidFill>
                  <a:srgbClr val="CBD5E1"/>
                </a:solidFill>
              </a:rPr>
              <a:t>Team enablement &amp; documentation</a:t>
            </a:r>
          </a:p>
        </p:txBody>
      </p:sp>
      <p:sp>
        <p:nvSpPr>
          <p:cNvPr id="397" name="Shape 39"/>
          <p:cNvSpPr/>
          <p:nvPr/>
        </p:nvSpPr>
        <p:spPr>
          <a:xfrm>
            <a:off x="274320" y="4736591"/>
            <a:ext cx="8595360" cy="310897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40"/>
          <p:cNvSpPr txBox="1"/>
          <p:nvPr/>
        </p:nvSpPr>
        <p:spPr>
          <a:xfrm>
            <a:off x="411479" y="4814360"/>
            <a:ext cx="8321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FFFFFF"/>
                </a:solidFill>
              </a:defRPr>
            </a:lvl1pPr>
          </a:lstStyle>
          <a:p>
            <a:pPr/>
            <a:r>
              <a:t>Review: Wednesday morning  ·  Bikash Tripathy &amp; Ankit Wahane leading  ·  Inputs to be collated before then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